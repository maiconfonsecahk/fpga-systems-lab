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60604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2606040"/>
            <a:ext cx="12188952" cy="3810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Jogo de Reflexo em FPGA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0C8EE"/>
                </a:solidFill>
              </a:rPr>
              <a:t>Spartan-3 XC3S200  ·  Bionexus TX-LED R27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07010"/>
                </a:solidFill>
              </a:rPr>
              <a:t>Expande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72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Felipe  ·  Maicon  ·  Paulo Henrique  ·  Willian Colleti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14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A8CC"/>
                </a:solidFill>
              </a:rPr>
              <a:t>Disciplina: Linguagem de Descrição de Hardware  · 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Desafio Recebido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O que foi proposto pelo professor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2 / 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143000"/>
            <a:ext cx="5303520" cy="1005840"/>
          </a:xfrm>
          <a:prstGeom prst="roundRect">
            <a:avLst>
              <a:gd name="adj" fmla="val 5000"/>
            </a:avLst>
          </a:prstGeom>
          <a:solidFill>
            <a:srgbClr val="E8F0FF"/>
          </a:solidFill>
          <a:ln w="19050">
            <a:solidFill>
              <a:srgbClr val="27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2344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A3A6B"/>
                </a:solidFill>
              </a:rPr>
              <a:t>Implementar projeto digital em VHDL para FPGA,
com gravação permanente via USB e comunicação
de resultados ao PC.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Entregáveis obrigatórios: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</a:rPr>
              <a:t>▸  Código VHDL base (Pisca LED 1 Hz — exemplo)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889504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A3A6B"/>
                </a:solidFill>
              </a:rPr>
              <a:t>▶  Projeto principal: Jogo de Reflexo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21868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</a:rPr>
              <a:t>▸  Documento técnico da placa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47872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</a:rPr>
              <a:t>▸  Slides de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1430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Hardware fornecido: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463040"/>
            <a:ext cx="164592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21" name="TextBox 20"/>
          <p:cNvSpPr txBox="1"/>
          <p:nvPr/>
        </p:nvSpPr>
        <p:spPr>
          <a:xfrm>
            <a:off x="6473952" y="15361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Campo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1463040"/>
            <a:ext cx="361188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23" name="TextBox 22"/>
          <p:cNvSpPr txBox="1"/>
          <p:nvPr/>
        </p:nvSpPr>
        <p:spPr>
          <a:xfrm>
            <a:off x="8119872" y="1536192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Valor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810512"/>
            <a:ext cx="164592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1856232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Placa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810512"/>
            <a:ext cx="361188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9872" y="185623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Bionexus TX-LED R27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139696"/>
            <a:ext cx="1645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2185416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FPGA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2139696"/>
            <a:ext cx="36118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185416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Xilinx XC3S200-4TQG144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468880"/>
            <a:ext cx="164592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2514600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Clock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2468880"/>
            <a:ext cx="361188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9872" y="2514600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40 MHz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798064"/>
            <a:ext cx="1645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3952" y="2843784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Alimentação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2798064"/>
            <a:ext cx="36118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19872" y="2843784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16 V DC / 500 mA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3127248"/>
            <a:ext cx="164592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3952" y="317296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USB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3127248"/>
            <a:ext cx="361188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19872" y="3172968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FT2232H dual-channel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3456432"/>
            <a:ext cx="1645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3952" y="3502152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Flash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3456432"/>
            <a:ext cx="36118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19872" y="350215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XCF01S — 1 Mbit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3785616"/>
            <a:ext cx="164592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73952" y="3831336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Gravação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3785616"/>
            <a:ext cx="361188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19872" y="3831336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xc3sprog / OpenOCD via USB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 Placa: Bionexus TX-LED R27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Identificação e componentes principais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3 /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430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Diagrama de blocos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508760"/>
            <a:ext cx="2194560" cy="164592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9050">
            <a:solidFill>
              <a:srgbClr val="27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544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FT2232H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20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Canal A → JTAG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40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Canal B → FIFO 245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0574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7010"/>
                </a:solidFill>
              </a:rPr>
              <a:t>USB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1371600"/>
            <a:ext cx="2377440" cy="2011680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 w="19050">
            <a:solidFill>
              <a:srgbClr val="1E7D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40" y="1417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7D36"/>
                </a:solidFill>
              </a:rPr>
              <a:t>XC3S200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830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P51 → LED D5 (reflexo)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211226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P50 → LED D6 (status)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4414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P47 → LED D7 (erro)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P56 ← BTN (botão)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03320" y="3611880"/>
            <a:ext cx="2377440" cy="914400"/>
          </a:xfrm>
          <a:prstGeom prst="roundRect">
            <a:avLst>
              <a:gd name="adj" fmla="val 5000"/>
            </a:avLst>
          </a:prstGeom>
          <a:solidFill>
            <a:srgbClr val="FFF0E0"/>
          </a:solidFill>
          <a:ln w="12700">
            <a:solidFill>
              <a:srgbClr val="E07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40" y="3657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07010"/>
                </a:solidFill>
              </a:rPr>
              <a:t>XCF01S — Platform Flash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3977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1 Mbit · firmware permanente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18288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755A0"/>
                </a:solidFill>
              </a:rPr>
              <a:t>JTAG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22860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755A0"/>
                </a:solidFill>
              </a:rPr>
              <a:t>FIFO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32689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07010"/>
                </a:solidFill>
              </a:rPr>
              <a:t>JTAG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1143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Especificações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1463040"/>
            <a:ext cx="164592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32" name="TextBox 31"/>
          <p:cNvSpPr txBox="1"/>
          <p:nvPr/>
        </p:nvSpPr>
        <p:spPr>
          <a:xfrm>
            <a:off x="6656832" y="15361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Campo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1463040"/>
            <a:ext cx="338328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34" name="TextBox 33"/>
          <p:cNvSpPr txBox="1"/>
          <p:nvPr/>
        </p:nvSpPr>
        <p:spPr>
          <a:xfrm>
            <a:off x="8302752" y="15361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Valor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1810512"/>
            <a:ext cx="164592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56832" y="18562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Placa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1810512"/>
            <a:ext cx="338328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02752" y="185623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Bionexus TX-LED R27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2130552"/>
            <a:ext cx="16459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56832" y="217627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FPGA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2130552"/>
            <a:ext cx="33832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02752" y="217627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XC3S200-4TQG144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2450592"/>
            <a:ext cx="164592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56832" y="24963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Clock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2450592"/>
            <a:ext cx="338328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02752" y="249631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40 MHz — pino P53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0" y="2770632"/>
            <a:ext cx="16459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56832" y="28163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Alimentação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2770632"/>
            <a:ext cx="33832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2752" y="2816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16 V DC / 500 mA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0" y="3090672"/>
            <a:ext cx="164592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56832" y="31363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LEDs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0" y="3090672"/>
            <a:ext cx="338328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02752" y="31363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D5(P51) · D6(P50) · D7(P47)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0" y="3410712"/>
            <a:ext cx="16459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56832" y="34564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Botão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29600" y="3410712"/>
            <a:ext cx="33832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02752" y="345643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P56 — pull-down módulo BLE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0" y="3730752"/>
            <a:ext cx="164592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56832" y="377647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USB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3730752"/>
            <a:ext cx="338328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02752" y="377647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FT2232H — 0403:70b1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0" y="4050792"/>
            <a:ext cx="16459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56832" y="40965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Flash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4050792"/>
            <a:ext cx="33832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02752" y="409651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XCF01S — 1 Mbit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Requisitos do Jogo de Reflexo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O que o sistema deve fazer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4 /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430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3A6B"/>
                </a:solidFill>
              </a:rPr>
              <a:t>O jogador pressiona um botão e o sistema mede quanto tempo levou para reagir ao LED.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0876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Fluxo de uma partida: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78308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801368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Ligar a placa
D6 aceso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1031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178308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0" y="1801368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Pressionar
botão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21031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178308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801368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Espera
aleatória
1–5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21031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78308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801368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D5 ACENDE
hora de
reagir!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21031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178308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1801368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Botão
pressionado
→ mede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60" y="21031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4120" y="1783080"/>
            <a:ext cx="1554480" cy="914400"/>
          </a:xfrm>
          <a:prstGeom prst="roundRect">
            <a:avLst>
              <a:gd name="adj" fmla="val 5000"/>
            </a:avLst>
          </a:prstGeom>
          <a:solidFill>
            <a:srgbClr val="1E7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1801368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Resultado
no PC
RESULT_MS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834640"/>
            <a:ext cx="73152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32" name="TextBox 31"/>
          <p:cNvSpPr txBox="1"/>
          <p:nvPr/>
        </p:nvSpPr>
        <p:spPr>
          <a:xfrm>
            <a:off x="576072" y="290779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440" y="2834640"/>
            <a:ext cx="969264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34" name="TextBox 33"/>
          <p:cNvSpPr txBox="1"/>
          <p:nvPr/>
        </p:nvSpPr>
        <p:spPr>
          <a:xfrm>
            <a:off x="1307592" y="2907792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Requisito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27080" y="2834640"/>
            <a:ext cx="64008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36" name="TextBox 35"/>
          <p:cNvSpPr txBox="1"/>
          <p:nvPr/>
        </p:nvSpPr>
        <p:spPr>
          <a:xfrm>
            <a:off x="11000232" y="290779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182112"/>
            <a:ext cx="73152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6072" y="322783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RF-01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440" y="3182112"/>
            <a:ext cx="969264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07592" y="322783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D6 aceso em IDLE (aguardando jogador)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927080" y="3182112"/>
            <a:ext cx="64008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00232" y="32278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502152"/>
            <a:ext cx="731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2" y="354787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RF-02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440" y="3502152"/>
            <a:ext cx="96926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07592" y="354787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LED D5 acende após intervalo aleatório de 1 a 5 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927080" y="3502152"/>
            <a:ext cx="640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000232" y="354787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822192"/>
            <a:ext cx="73152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" y="386791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RF-03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440" y="3822192"/>
            <a:ext cx="969264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07592" y="386791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Mede tempo de reação em ms — resolução de 1 ms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27080" y="3822192"/>
            <a:ext cx="64008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00232" y="386791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142232"/>
            <a:ext cx="731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6072" y="4187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RF-04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440" y="4142232"/>
            <a:ext cx="96926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07592" y="418795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D7 acende ao pressionar cedo demais (EARLY)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927080" y="4142232"/>
            <a:ext cx="640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000232" y="4187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462272"/>
            <a:ext cx="73152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6072" y="450799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RF-05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234440" y="4462272"/>
            <a:ext cx="969264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07592" y="45079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D7 acende em TIMEOUT (9.999 ms sem reação)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927080" y="4462272"/>
            <a:ext cx="64008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000232" y="450799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4782312"/>
            <a:ext cx="731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6072" y="482803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RF-06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234440" y="4782312"/>
            <a:ext cx="96926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07592" y="482803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Envia resultado ao PC via USB FIFO 245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927080" y="4782312"/>
            <a:ext cx="640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000232" y="48280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5102352"/>
            <a:ext cx="73152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6072" y="514807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RF-07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34440" y="5102352"/>
            <a:ext cx="969264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307592" y="514807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Firmware permanente — carrega automaticamente ao ligar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927080" y="5102352"/>
            <a:ext cx="640080" cy="3200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000232" y="514807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Pinagem Utilizada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Mapeamento sinal VHDL → pino físico → periférico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5 /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430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Sinais do jogo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17320"/>
            <a:ext cx="155448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576072" y="149047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Sinal VHDL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1417320"/>
            <a:ext cx="64008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130552" y="149047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Pino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1417320"/>
            <a:ext cx="73152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2770632" y="1490472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1417320"/>
            <a:ext cx="27432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3502152" y="149047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Função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764792"/>
            <a:ext cx="155448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181051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clk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1764792"/>
            <a:ext cx="64008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30552" y="1810512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P53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97480" y="1764792"/>
            <a:ext cx="73152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70632" y="1810512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Entrada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1764792"/>
            <a:ext cx="274320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2152" y="181051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Clock 40 MHz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093976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213969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btn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2093976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30552" y="213969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97480" y="2093976"/>
            <a:ext cx="7315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70632" y="2139696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Entrada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29000" y="2093976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2139696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Botão de resposta (pull-down BLE)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2423160"/>
            <a:ext cx="155448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6072" y="246888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led_reflexo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57400" y="2423160"/>
            <a:ext cx="64008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30552" y="2468880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P51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7480" y="2423160"/>
            <a:ext cx="73152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70632" y="2468880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Saída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29000" y="2423160"/>
            <a:ext cx="274320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02152" y="2468880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LED D5 — hora de reagir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2752344"/>
            <a:ext cx="1554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" y="279806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led_status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57400" y="2752344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30552" y="2798064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P50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97480" y="2752344"/>
            <a:ext cx="7315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70632" y="2798064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Saída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29000" y="2752344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02152" y="2798064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LED D6 — IDLE / resultado OK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081528"/>
            <a:ext cx="155448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" y="3127248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led_erro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57400" y="3081528"/>
            <a:ext cx="64008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130552" y="3127248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P47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97480" y="3081528"/>
            <a:ext cx="73152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70632" y="3127248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Saída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29000" y="3081528"/>
            <a:ext cx="2743200" cy="32918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02152" y="312724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LED D7 — EARLY / TIMEOUT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352044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Interface FIFO 245 — Canal B FT2232H (Bank 6)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3794760"/>
            <a:ext cx="109728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63" name="TextBox 62"/>
          <p:cNvSpPr txBox="1"/>
          <p:nvPr/>
        </p:nvSpPr>
        <p:spPr>
          <a:xfrm>
            <a:off x="576072" y="386791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Sinal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00200" y="3794760"/>
            <a:ext cx="201168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65" name="TextBox 64"/>
          <p:cNvSpPr txBox="1"/>
          <p:nvPr/>
        </p:nvSpPr>
        <p:spPr>
          <a:xfrm>
            <a:off x="1673352" y="386791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Pinos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11880" y="3794760"/>
            <a:ext cx="64008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67" name="TextBox 66"/>
          <p:cNvSpPr txBox="1"/>
          <p:nvPr/>
        </p:nvSpPr>
        <p:spPr>
          <a:xfrm>
            <a:off x="3685032" y="386791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Dir.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51960" y="3794760"/>
            <a:ext cx="192024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69" name="TextBox 68"/>
          <p:cNvSpPr txBox="1"/>
          <p:nvPr/>
        </p:nvSpPr>
        <p:spPr>
          <a:xfrm>
            <a:off x="4325112" y="38679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Função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142232"/>
            <a:ext cx="109728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76072" y="4187952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usb_d[0..7]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600200" y="4142232"/>
            <a:ext cx="201168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73352" y="4187952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P31/P30/P27/P28/
P32/P33/P36/P35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11880" y="4142232"/>
            <a:ext cx="64008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85032" y="4187952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Saída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51960" y="4142232"/>
            <a:ext cx="19202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325112" y="418795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Dado 8 bits (BDBUS0-7)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2920" y="4526280"/>
            <a:ext cx="10972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6072" y="4572000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usb_wr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526280"/>
            <a:ext cx="20116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73352" y="4572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P21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11880" y="4526280"/>
            <a:ext cx="6400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85032" y="4572000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Saída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51960" y="4526280"/>
            <a:ext cx="19202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325112" y="45720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WR# write strobe ativo baixo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2920" y="4910328"/>
            <a:ext cx="109728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6072" y="4956048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usb_txe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600200" y="4910328"/>
            <a:ext cx="201168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673352" y="495604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P26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11880" y="4910328"/>
            <a:ext cx="64008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85032" y="4956048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Entrada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51960" y="4910328"/>
            <a:ext cx="19202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25112" y="495604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TXE# — FIFO TX não cheia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83680" y="1143000"/>
            <a:ext cx="5330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</a:rPr>
              <a:t>⚠  Pinos reservados — NÃO usar como I/O!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583680" y="1463040"/>
            <a:ext cx="5330952" cy="137160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720840" y="1554480"/>
            <a:ext cx="5148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0392B"/>
                </a:solidFill>
              </a:rPr>
              <a:t>P29 = GND (pino de terra)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1773936"/>
            <a:ext cx="5148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0392B"/>
                </a:solidFill>
              </a:rPr>
              <a:t>P34 = VCCO_6 (alimentação do Bank 6)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20840" y="1993392"/>
            <a:ext cx="5148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/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20840" y="2212848"/>
            <a:ext cx="5148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Atribuir esses pinos no UCF causa rejeição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20840" y="2432304"/>
            <a:ext cx="5148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pelo MAP/PAR do ISE 14.7.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720840" y="2651760"/>
            <a:ext cx="5148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Descoberto ao analisar o PAD report.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83680" y="2971800"/>
            <a:ext cx="5330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Exemplo de constraints UCF: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583680" y="3246120"/>
            <a:ext cx="5330952" cy="1115568"/>
          </a:xfrm>
          <a:prstGeom prst="roundRect">
            <a:avLst>
              <a:gd name="adj" fmla="val 5000"/>
            </a:avLst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693408" y="3300984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F0D8"/>
                </a:solidFill>
              </a:rPr>
              <a:t>NET "clk"      LOC = "P53" | IOSTANDARD = LVCMOS33;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693408" y="3557016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F0D8"/>
                </a:solidFill>
              </a:rPr>
              <a:t>NET "btn"      LOC = "P56" | IOSTANDARD = LVCMOS33 | PULLDOWN;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93408" y="3813048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F0D8"/>
                </a:solidFill>
              </a:rPr>
              <a:t>NET "usb_d&lt;0&gt;" LOC = "P31" | IOSTANDARD = LVCMOS33;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93408" y="4069080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F0D8"/>
                </a:solidFill>
              </a:rPr>
              <a:t>NET "usb_wr"   LOC = "P21" | IOSTANDARD = LVCMOS33;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Arquitetura VHDL: Dois Processos Paralelos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A lógica paralela do FPGA — não é código sequencial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6 / 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23444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E8F0FF"/>
          </a:solidFill>
          <a:ln w="25400"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entity reflex_game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1645920"/>
            <a:ext cx="4663440" cy="1554480"/>
          </a:xfrm>
          <a:prstGeom prst="roundRect">
            <a:avLst>
              <a:gd name="adj" fmla="val 5000"/>
            </a:avLst>
          </a:prstGeom>
          <a:solidFill>
            <a:srgbClr val="E8F0FF"/>
          </a:solidFill>
          <a:ln w="19050">
            <a:solidFill>
              <a:srgbClr val="27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16916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755A0"/>
                </a:solidFill>
              </a:rPr>
              <a:t>game_proc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0116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FSM do jogo (7 estados)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31343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Debounce + sincronizador 2-FF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15184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LFSR 16 bits (aleatoriedade)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916936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Divisor de ms + conversão BCD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3337560"/>
            <a:ext cx="4663440" cy="1417320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 w="19050">
            <a:solidFill>
              <a:srgbClr val="1E7D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38328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D36"/>
                </a:solidFill>
              </a:rPr>
              <a:t>fifo_proc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4904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FIFO TX 245 (5 estados)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05079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Aguarda uart_trigger='1'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352544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Envia byte a byte com pulso WR# ≥ 50 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143000"/>
            <a:ext cx="4965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Entradas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1463040"/>
            <a:ext cx="49651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clk  (P53)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1847088"/>
            <a:ext cx="49651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btn  (P56)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231136"/>
            <a:ext cx="49651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usb_txe  (P26)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788920"/>
            <a:ext cx="4965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Saídas — LEDs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108960"/>
            <a:ext cx="49651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led_reflexo  (P51)  → D5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493008"/>
            <a:ext cx="49651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led_status  (P50)  → D6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877056"/>
            <a:ext cx="49651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led_erro  (P47)  → D7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4389120"/>
            <a:ext cx="4965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Saídas — FIFO USB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709160"/>
            <a:ext cx="49651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usb_d[7:0]  (P27-P36)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5093208"/>
            <a:ext cx="49651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usb_wr  (P21)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49440" y="5715000"/>
            <a:ext cx="4965192" cy="822960"/>
          </a:xfrm>
          <a:prstGeom prst="roundRect">
            <a:avLst>
              <a:gd name="adj" fmla="val 5000"/>
            </a:avLst>
          </a:prstGeom>
          <a:solidFill>
            <a:srgbClr val="FFF8E0"/>
          </a:solidFill>
          <a:ln w="19050">
            <a:solidFill>
              <a:srgbClr val="E07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0" y="5760720"/>
            <a:ext cx="4828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07010"/>
                </a:solidFill>
              </a:rPr>
              <a:t>⚡ Paralelismo real no FPGA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6062472"/>
            <a:ext cx="4828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game_proc e fifo_proc executam
ao mesmo tempo — software não consegue isso!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Máquina de Estados do Jogo (FSM)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7 estados · Transições por eventos de 1 ms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7 /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43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Comportamento dos LEDs por estado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35608"/>
            <a:ext cx="146304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576072" y="15087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Estado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1435608"/>
            <a:ext cx="4572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039112" y="150876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23160" y="1435608"/>
            <a:ext cx="4572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2496312" y="150876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435608"/>
            <a:ext cx="4572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2953512" y="150876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1435608"/>
            <a:ext cx="27432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22" name="TextBox 21"/>
          <p:cNvSpPr txBox="1"/>
          <p:nvPr/>
        </p:nvSpPr>
        <p:spPr>
          <a:xfrm>
            <a:off x="3410712" y="150876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Descrição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783080"/>
            <a:ext cx="14630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182880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IDLE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1783080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39112" y="182880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23160" y="1783080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96312" y="182880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80360" y="1783080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53512" y="182880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1783080"/>
            <a:ext cx="2743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10712" y="182880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Aguardando início de jogo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167128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22128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WAIT_RELEASE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65960" y="2167128"/>
            <a:ext cx="457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39112" y="221284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23160" y="2167128"/>
            <a:ext cx="457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6312" y="221284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80360" y="2167128"/>
            <a:ext cx="457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53512" y="221284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37560" y="2167128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10712" y="221284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Aguardando soltar o botão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2551176"/>
            <a:ext cx="14630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2" y="25968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WAIT_RANDOM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965960" y="2551176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39112" y="2596896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23160" y="2551176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96312" y="2596896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80360" y="2551176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53512" y="2596896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37560" y="2551176"/>
            <a:ext cx="2743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10712" y="259689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Contando tempo aleatório (1–5 s)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2935224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" y="298094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LED_ON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65960" y="2935224"/>
            <a:ext cx="457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39112" y="298094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23160" y="2935224"/>
            <a:ext cx="457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96312" y="298094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880360" y="2935224"/>
            <a:ext cx="457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53512" y="298094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2935224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10712" y="29809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Medindo tempo de reação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3319272"/>
            <a:ext cx="14630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76072" y="336499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RESULT_OK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965960" y="3319272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39112" y="3364992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423160" y="3319272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496312" y="3364992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880360" y="3319272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953512" y="3364992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337560" y="3319272"/>
            <a:ext cx="2743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410712" y="336499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Resultado válido (3 s)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3703320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6072" y="374904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EARLY_PRESS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965960" y="3703320"/>
            <a:ext cx="457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39112" y="374904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423160" y="3703320"/>
            <a:ext cx="457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496312" y="374904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80360" y="3703320"/>
            <a:ext cx="457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953512" y="374904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337560" y="3703320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410712" y="37490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Pressionou antes do LED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4087368"/>
            <a:ext cx="14630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6072" y="413308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TIMEOUT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965960" y="4087368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39112" y="413308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423160" y="4087368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496312" y="413308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880360" y="4087368"/>
            <a:ext cx="457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953512" y="413308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D7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337560" y="4087368"/>
            <a:ext cx="27432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10712" y="413308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Não reagiu em 9.999 s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595360" y="1325879"/>
            <a:ext cx="1463040" cy="457200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641080" y="139903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IDLE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0495904" y="2423159"/>
            <a:ext cx="1463040" cy="457200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41624" y="249631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WAIT_RELEASE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495904" y="4617719"/>
            <a:ext cx="1463040" cy="457200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541624" y="469087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WAIT_RANDOM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95360" y="5714999"/>
            <a:ext cx="1463040" cy="457200"/>
          </a:xfrm>
          <a:prstGeom prst="roundRect">
            <a:avLst>
              <a:gd name="adj" fmla="val 5000"/>
            </a:avLst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41080" y="578815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LED_ON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694815" y="4617719"/>
            <a:ext cx="1463040" cy="457200"/>
          </a:xfrm>
          <a:prstGeom prst="roundRect">
            <a:avLst>
              <a:gd name="adj" fmla="val 5000"/>
            </a:avLst>
          </a:prstGeom>
          <a:solidFill>
            <a:srgbClr val="1E7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740535" y="469087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RESULT_OK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694815" y="2423159"/>
            <a:ext cx="1463040" cy="457200"/>
          </a:xfrm>
          <a:prstGeom prst="roundRect">
            <a:avLst>
              <a:gd name="adj" fmla="val 5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740535" y="249631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EARLY_PRESS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1704320" y="4206239"/>
            <a:ext cx="1371600" cy="457200"/>
          </a:xfrm>
          <a:prstGeom prst="roundRect">
            <a:avLst>
              <a:gd name="adj" fmla="val 5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1750040" y="4279391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686800" y="16916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755A0"/>
                </a:solidFill>
              </a:rPr>
              <a:t>btn press → inicia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58400" y="2286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755A0"/>
                </a:solidFill>
              </a:rPr>
              <a:t>btn solto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41280" y="347472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755A0"/>
                </a:solidFill>
              </a:rPr>
              <a:t>tempo expirou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12480" y="347472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755A0"/>
                </a:solidFill>
              </a:rPr>
              <a:t>btn press (reação)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46720" y="4754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755A0"/>
                </a:solidFill>
              </a:rPr>
              <a:t>3 s → volta IDLE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29600" y="256032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755A0"/>
                </a:solidFill>
              </a:rPr>
              <a:t>btn cedo →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521440" y="3931919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755A0"/>
                </a:solidFill>
              </a:rPr>
              <a:t>9,999 s → TIMEOUT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Aleatoriedade: LFSR de 16 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Por que o intervalo de espera é imprevisível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8 /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43000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3A6B"/>
                </a:solidFill>
              </a:rPr>
              <a:t>Um LFSR avança 40 milhões de vezes por segundo.
No instante exato do clique, 12 bits definem o atraso.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3736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LFSR de 16 bits — polinômio x¹⁶+x¹⁴+x¹³+x¹¹+1: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14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61288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1288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90472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90472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19656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19656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48840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48840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78024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78024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07208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07208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36392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36392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65576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65576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94760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4760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23944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23944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53128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82312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82312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11496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1496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40680" y="2057400"/>
            <a:ext cx="301752" cy="347472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40680" y="2103120"/>
            <a:ext cx="30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</a:rPr>
              <a:t>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2560320"/>
            <a:ext cx="5669280" cy="1883664"/>
          </a:xfrm>
          <a:prstGeom prst="roundRect">
            <a:avLst>
              <a:gd name="adj" fmla="val 5000"/>
            </a:avLst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2648" y="261518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-- XOR dos taps de feedback: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" y="287121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lfsr_feedback := lfsr(15) xor lfsr(13) xor lfsr(12) xor lfsr(10);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" y="31272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lfsr &lt;= lfsr(14 downto 0) &amp; lfsr_feedback;  -- shift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" y="33832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" y="36393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-- Ao pressionar o botão: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389534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delay_target_ms &lt;= 1000 + to_integer(lfsr(11 downto 0));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" y="415137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--                  min 1s    0 a 4095 ms extras → até ~5 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1143000"/>
            <a:ext cx="5330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Por que não um contador simples?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0" y="1435608"/>
            <a:ext cx="5330952" cy="109728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20840" y="1490472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</a:rPr>
              <a:t>❌  Problema com contador: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0840" y="1764792"/>
            <a:ext cx="5148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Sempre o mesmo intervalo →
jogador memoriza o padrão em 2 rodadas!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83680" y="2651760"/>
            <a:ext cx="5330952" cy="1097280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 w="19050">
            <a:solidFill>
              <a:srgbClr val="1E7D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20840" y="2697480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D36"/>
                </a:solidFill>
              </a:rPr>
              <a:t>✅  Solução com LFSR: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20840" y="2971800"/>
            <a:ext cx="51480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65.535 valores únicos antes de repetir
→ padrão imprevisível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0" y="3886200"/>
            <a:ext cx="5330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Propriedades do LFSR: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4206240"/>
            <a:ext cx="5330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Implementado em flip-flops + XOR (zero custo extra)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0" y="4590288"/>
            <a:ext cx="5330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Avança automaticamente todo ciclo de clock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0" y="4974336"/>
            <a:ext cx="5330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Período: 2¹⁶ − 1 = 65.535 estados únicos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5358384"/>
            <a:ext cx="5330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Intervalo: 1.000 ms a 5.095 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Comunicação com o PC: FIFO 245 Assíncrono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Por que não UART — e como o protocolo funciona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9 /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43000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6B"/>
                </a:solidFill>
              </a:rPr>
              <a:t>O Canal B do FT2232H expõe barramento paralelo de 8 bits (BDBUS0-7)
mais WR# e TXE#. Isso é Async FIFO 245 — não UART de 1 fio.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3736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Protocolo de escrita (FPGA → FT2232H → PC):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57400"/>
            <a:ext cx="5669280" cy="1371600"/>
          </a:xfrm>
          <a:prstGeom prst="roundRect">
            <a:avLst>
              <a:gd name="adj" fmla="val 5000"/>
            </a:avLst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11226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F0D8"/>
                </a:solidFill>
              </a:rPr>
              <a:t>1. Aguardar TXE# = '0'  (FIFO TX não está cheia)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368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F0D8"/>
                </a:solidFill>
              </a:rPr>
              <a:t>2. Colocar byte em D[7:0]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62432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F0D8"/>
                </a:solidFill>
              </a:rPr>
              <a:t>3. Pulsar WR# = '0' por &gt;= 50 ns  (2 ciclos a 40 MHz)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28803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F0D8"/>
                </a:solidFill>
              </a:rPr>
              <a:t>4. Liberar WR# = '1'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313639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F0D8"/>
                </a:solidFill>
              </a:rPr>
              <a:t>5. Repetir para o próximo byte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47472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FSM fifo_proc — 5 estados: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76472"/>
            <a:ext cx="1005840" cy="384048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3822192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FTX_IDLE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7048" y="3840480"/>
            <a:ext cx="109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18488" y="3776472"/>
            <a:ext cx="1005840" cy="384048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3822192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FTX_CHECK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42616" y="3840480"/>
            <a:ext cx="109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34056" y="3776472"/>
            <a:ext cx="1005840" cy="384048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61488" y="3822192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FTX_STROBE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58184" y="3840480"/>
            <a:ext cx="109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9624" y="3776472"/>
            <a:ext cx="1005840" cy="384048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77056" y="3822192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FTX_WAIT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3752" y="3840480"/>
            <a:ext cx="109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65192" y="3776472"/>
            <a:ext cx="1005840" cy="384048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2624" y="3822192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FTX_NEXT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1143000"/>
            <a:ext cx="5330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Mensagens enviadas ao PC: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1435608"/>
            <a:ext cx="146304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37" name="TextBox 36"/>
          <p:cNvSpPr txBox="1"/>
          <p:nvPr/>
        </p:nvSpPr>
        <p:spPr>
          <a:xfrm>
            <a:off x="6656832" y="15087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Evento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1435608"/>
            <a:ext cx="256032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39" name="TextBox 38"/>
          <p:cNvSpPr txBox="1"/>
          <p:nvPr/>
        </p:nvSpPr>
        <p:spPr>
          <a:xfrm>
            <a:off x="8119872" y="150876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Mensagem ASCII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07040" y="1435608"/>
            <a:ext cx="64008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41" name="TextBox 40"/>
          <p:cNvSpPr txBox="1"/>
          <p:nvPr/>
        </p:nvSpPr>
        <p:spPr>
          <a:xfrm>
            <a:off x="10680192" y="1508760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1783080"/>
            <a:ext cx="14630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56832" y="182880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Reação válida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1783080"/>
            <a:ext cx="256032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9872" y="18288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RESULT_MS=0342\r\n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07040" y="1783080"/>
            <a:ext cx="64008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80192" y="1828800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16 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0" y="2167128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56832" y="22128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Antes do LED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2167128"/>
            <a:ext cx="25603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19872" y="221284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EARLY\r\n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07040" y="2167128"/>
            <a:ext cx="6400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80192" y="2212848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7 B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0" y="2551176"/>
            <a:ext cx="14630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56832" y="25968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Sem reação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2551176"/>
            <a:ext cx="256032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19872" y="2596896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TIMEOUT\r\n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607040" y="2551176"/>
            <a:ext cx="64008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680192" y="259689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9 B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83680" y="2971800"/>
            <a:ext cx="5330952" cy="164592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20840" y="3017519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</a:rPr>
              <a:t>❌  Erro cometido: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3319272"/>
            <a:ext cx="514807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Tentamos usar 1 pino uart_tx
(P28, P30, P29, P93) — zero bytes
chegavam.
Causa: Canal B é barramento
paralelo, não UART serial.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0" y="4754880"/>
            <a:ext cx="5330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Monitor serial: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83680" y="5074920"/>
            <a:ext cx="5330952" cy="859536"/>
          </a:xfrm>
          <a:prstGeom prst="roundRect">
            <a:avLst>
              <a:gd name="adj" fmla="val 5000"/>
            </a:avLst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93408" y="5129784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/dev/ttyUSB1  (Linux — Interface 01)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93408" y="5385816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COM2  (Windows)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93408" y="5641848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Baudrate: qualquer (FT2232H ignora)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Conversão BCD e Timing Violation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Como o FPGA transforma 342 em '0342' — e o problema de timing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10 /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43000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6B"/>
                </a:solidFill>
              </a:rPr>
              <a:t>Para transmitir RESULT_MS=0342, o FPGA precisa converter o
inteiro 342 em ASCII. Divisão não é suportada pelo XST →
usamos subtrações sucessivas: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737360"/>
            <a:ext cx="5669280" cy="2907792"/>
          </a:xfrm>
          <a:prstGeom prst="roundRect">
            <a:avLst>
              <a:gd name="adj" fmla="val 5000"/>
            </a:avLst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79222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rms := reaction_time_ms;  -- ex: 342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04825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if    rms &gt;= 9000 then d3 := 9; rms := rms - 9000;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30428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elsif rms &gt;= 8000 then d3 := 8; rms := rms - 8000;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560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-- ... (10 ramos, do 9 ao 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281635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-- Repete para centenas (d2), dezenas (d1), unidades (d0)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307238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32841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-- Converte para ASCII: '0' = 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35844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uart_msg(10) &lt;= to_unsigned(d3 + 48, 8);  -- '3'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3840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uart_msg(11) &lt;= to_unsigned(d2 + 48, 8);  -- '4'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0965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uart_msg(12) &lt;= to_unsigned(d1 + 48, 8);  -- '2'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35254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uart_msg(13) &lt;= to_unsigned(d0 + 48, 8);  -- '0' -&gt; espera, '2' não!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1143000"/>
            <a:ext cx="5330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</a:rPr>
              <a:t>O problema de timing: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1435608"/>
            <a:ext cx="5330952" cy="155448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1508760"/>
            <a:ext cx="51480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0392B"/>
                </a:solidFill>
              </a:rPr>
              <a:t>24 níveis de lógica combinacional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783080"/>
            <a:ext cx="51480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0392B"/>
                </a:solidFill>
              </a:rPr>
              <a:t>Atraso medido pelo PAR: 27,7 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2057400"/>
            <a:ext cx="51480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Clock da placa: 25 ns (40 MHz)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2331720"/>
            <a:ext cx="51480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0392B"/>
                </a:solidFill>
              </a:rPr>
              <a:t>27,7 ns &gt; 25 ns → FALHA de timing!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2606040"/>
            <a:ext cx="51480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PAR reportou 16 timing errors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108960"/>
            <a:ext cx="5330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7D36"/>
                </a:solidFill>
              </a:rPr>
              <a:t>A solução — constraint TIG no UCF: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3429000"/>
            <a:ext cx="5330952" cy="1115568"/>
          </a:xfrm>
          <a:prstGeom prst="roundRect">
            <a:avLst>
              <a:gd name="adj" fmla="val 5000"/>
            </a:avLst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3408" y="3483864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INST "reaction_time_ms_*" TNM = "TG_rms";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3408" y="3739896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INST "uart_msg_*_*"       TNM = "TG_uart_msg";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3408" y="3995928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TIMESPEC "TS_bcd" =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3408" y="4251960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  FROM "TG_rms" TO "TG_uart_msg" TIG;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663440"/>
            <a:ext cx="5330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Por que TIG é seguro aqui?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983480"/>
            <a:ext cx="5330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Executa apenas 1× por pressão de botão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349240"/>
            <a:ext cx="5330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Não ocorre em clocks consecutivos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5715000"/>
            <a:ext cx="5330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Valor já estabilizou antes da leitura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Fluxo de Síntese ISE 14.7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Do código VHDL ao bitstream pronto para gravar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11 / 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143000"/>
            <a:ext cx="914400" cy="438912"/>
          </a:xfrm>
          <a:prstGeom prst="roundRect">
            <a:avLst>
              <a:gd name="adj" fmla="val 5000"/>
            </a:avLst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1615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XST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1430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</a:rPr>
              <a:t>Síntese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1371600"/>
            <a:ext cx="539496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9344" y="1389888"/>
            <a:ext cx="466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.ngc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6184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VHDL → portas lógicas (AND, OR, FF)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1581912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07010"/>
                </a:solidFill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167128"/>
            <a:ext cx="914400" cy="438912"/>
          </a:xfrm>
          <a:prstGeom prst="roundRect">
            <a:avLst>
              <a:gd name="adj" fmla="val 5000"/>
            </a:avLst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2402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NGDBuild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16712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</a:rPr>
              <a:t>Tradução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54480" y="2395728"/>
            <a:ext cx="539496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9344" y="2414016"/>
            <a:ext cx="466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.ngd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2642616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Aplica UCF — associa sinais a pinos físicos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606040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07010"/>
                </a:solidFill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191256"/>
            <a:ext cx="914400" cy="438912"/>
          </a:xfrm>
          <a:prstGeom prst="roundRect">
            <a:avLst>
              <a:gd name="adj" fmla="val 5000"/>
            </a:avLst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26440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19125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</a:rPr>
              <a:t>Mapeamento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54480" y="3419856"/>
            <a:ext cx="539496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9344" y="3438144"/>
            <a:ext cx="466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.ncd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3666744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Mapeia portas para LUTs e FFs do XC3S200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63016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07010"/>
                </a:solidFill>
              </a:rP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215384"/>
            <a:ext cx="914400" cy="438912"/>
          </a:xfrm>
          <a:prstGeom prst="roundRect">
            <a:avLst>
              <a:gd name="adj" fmla="val 5000"/>
            </a:avLst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288536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421538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</a:rPr>
              <a:t>Place &amp; Route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554480" y="4443984"/>
            <a:ext cx="539496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9344" y="4462272"/>
            <a:ext cx="466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.ncd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69087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Posiciona cada célula e roteia os fios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654296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07010"/>
                </a:solidFill>
              </a:rPr>
              <a:t>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239512"/>
            <a:ext cx="914400" cy="438912"/>
          </a:xfrm>
          <a:prstGeom prst="roundRect">
            <a:avLst>
              <a:gd name="adj" fmla="val 5000"/>
            </a:avLst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312664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BitGen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5239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</a:rPr>
              <a:t>Geração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554480" y="5468112"/>
            <a:ext cx="539496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09344" y="5486400"/>
            <a:ext cx="466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.bit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54480" y="571500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Produz o bitstream binário (128 KB)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852160"/>
            <a:ext cx="4617720" cy="603504"/>
          </a:xfrm>
          <a:prstGeom prst="roundRect">
            <a:avLst>
              <a:gd name="adj" fmla="val 5000"/>
            </a:avLst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2648" y="5907024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8F0D8"/>
                </a:solidFill>
              </a:rPr>
              <a:t>Timing summary: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" y="6163056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8F0D8"/>
                </a:solidFill>
              </a:rPr>
              <a:t>  Timing errors: 0  Score: 0  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0" y="1143000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Resultado da síntese: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0" y="1435608"/>
            <a:ext cx="13716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51" name="TextBox 50"/>
          <p:cNvSpPr txBox="1"/>
          <p:nvPr/>
        </p:nvSpPr>
        <p:spPr>
          <a:xfrm>
            <a:off x="5742432" y="15087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Recurso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40880" y="1435608"/>
            <a:ext cx="82296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53" name="TextBox 52"/>
          <p:cNvSpPr txBox="1"/>
          <p:nvPr/>
        </p:nvSpPr>
        <p:spPr>
          <a:xfrm>
            <a:off x="7114032" y="150876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Usado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63840" y="1435608"/>
            <a:ext cx="82296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55" name="TextBox 54"/>
          <p:cNvSpPr txBox="1"/>
          <p:nvPr/>
        </p:nvSpPr>
        <p:spPr>
          <a:xfrm>
            <a:off x="7936992" y="150876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Disp.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86800" y="1435608"/>
            <a:ext cx="82296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57" name="TextBox 56"/>
          <p:cNvSpPr txBox="1"/>
          <p:nvPr/>
        </p:nvSpPr>
        <p:spPr>
          <a:xfrm>
            <a:off x="8759952" y="150876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0" y="1783080"/>
            <a:ext cx="13716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42432" y="1828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Slices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40880" y="1783080"/>
            <a:ext cx="82296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4032" y="182880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344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1783080"/>
            <a:ext cx="82296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36992" y="182880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1.920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686800" y="1783080"/>
            <a:ext cx="82296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59952" y="182880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17,9%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6712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42432" y="221284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LUTs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0880" y="2167128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14032" y="221284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619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63840" y="2167128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936992" y="221284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3.840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0" y="2167128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59952" y="221284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16,1%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0" y="2551176"/>
            <a:ext cx="13716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742432" y="259689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Flip-Flops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040880" y="2551176"/>
            <a:ext cx="82296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14032" y="259689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120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863840" y="2551176"/>
            <a:ext cx="82296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936992" y="259689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3.840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86800" y="2551176"/>
            <a:ext cx="82296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59952" y="259689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3,1%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69280" y="293522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742432" y="2980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IOBs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0880" y="2935224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4032" y="298094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63840" y="2935224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36992" y="298094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97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686800" y="2935224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759952" y="298094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14,4%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0" y="3319272"/>
            <a:ext cx="13716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742432" y="336499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Erros timing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40880" y="3319272"/>
            <a:ext cx="82296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4032" y="336499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63840" y="3319272"/>
            <a:ext cx="82296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36992" y="336499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686800" y="3319272"/>
            <a:ext cx="82296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759952" y="336499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0" y="3703320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A6B"/>
                </a:solidFill>
              </a:rPr>
              <a:t>Arquivos de entrada: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669280" y="4023360"/>
            <a:ext cx="1394460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24144" y="4041648"/>
            <a:ext cx="13213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reflex_game.vhd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98080" y="4069080"/>
            <a:ext cx="4325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Código VHDL — lógica do jogo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69280" y="4462272"/>
            <a:ext cx="1394460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724144" y="4480560"/>
            <a:ext cx="13213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reflex_game.ucf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98080" y="4507992"/>
            <a:ext cx="4325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Constraints de pinos e timing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669280" y="4901184"/>
            <a:ext cx="1394460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724144" y="4919472"/>
            <a:ext cx="13213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reflex_game.xst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498080" y="4946904"/>
            <a:ext cx="4325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Opções do XST (device alvo)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69280" y="5340096"/>
            <a:ext cx="1394460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724144" y="5358384"/>
            <a:ext cx="13213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reflex_game.prj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98080" y="5385816"/>
            <a:ext cx="4325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Lista de arquivos VHDL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Gravação do Firmware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SRAM (temporário) vs Platform Flash XCF01S (permanente)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12 /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430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755A0"/>
                </a:solidFill>
              </a:rPr>
              <a:t>Gravação na SRAM — temporário (perde ao desligar)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35608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49047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# Via xc3sprog: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174650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xc3sprog -c ftdi reflex_game.bit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00253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258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# Via OpenOCD: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25146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openocd -f gravar.cfg -c "init; pld load 0 reflex_game.bit; exit"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9260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755A0"/>
                </a:solidFill>
              </a:rPr>
              <a:t>⚡  Resultado em ~3 segundos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918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Gravação na Flash — permanente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11880"/>
            <a:ext cx="1645920" cy="384048"/>
          </a:xfrm>
          <a:prstGeom prst="roundRect">
            <a:avLst>
              <a:gd name="adj" fmla="val 5000"/>
            </a:avLst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6576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1. promgen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05079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Converte .bit → .mcs
(formato Platform Flash XCF01S)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749040"/>
            <a:ext cx="137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3611880"/>
            <a:ext cx="1645920" cy="384048"/>
          </a:xfrm>
          <a:prstGeom prst="roundRect">
            <a:avLst>
              <a:gd name="adj" fmla="val 5000"/>
            </a:avLst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36576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2. iMPACT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05079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Gera arquivo .svf
(apagar + programar + verificar)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3749040"/>
            <a:ext cx="137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9080" y="3611880"/>
            <a:ext cx="1645920" cy="384048"/>
          </a:xfrm>
          <a:prstGeom prst="roundRect">
            <a:avLst>
              <a:gd name="adj" fmla="val 5000"/>
            </a:avLst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36576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3. OpenOCD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69080" y="405079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Executa o .svf na placa
(~2 min · vetor JTAG a vetor)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617720"/>
            <a:ext cx="5486400" cy="603504"/>
          </a:xfrm>
          <a:prstGeom prst="roundRect">
            <a:avLst>
              <a:gd name="adj" fmla="val 5000"/>
            </a:avLst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67258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8F0D8"/>
                </a:solidFill>
              </a:rPr>
              <a:t># Via xc3sprog (forma mais simples):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492861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8F0D8"/>
                </a:solidFill>
              </a:rPr>
              <a:t>xc3sprog -c ftdi -p 1 reflex_game.bit:w:0:BIT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1143000"/>
            <a:ext cx="54223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Cadeia JTAG da placa: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1463040"/>
            <a:ext cx="2638044" cy="868680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1527048"/>
            <a:ext cx="25740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xc3s200  (FPGA)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1828800"/>
            <a:ext cx="25740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0x01414093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7716" y="1801368"/>
            <a:ext cx="137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07010"/>
                </a:solidFill>
              </a:rP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49156" y="1463040"/>
            <a:ext cx="2638044" cy="868680"/>
          </a:xfrm>
          <a:prstGeom prst="roundRect">
            <a:avLst>
              <a:gd name="adj" fmla="val 5000"/>
            </a:avLst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94876" y="1527048"/>
            <a:ext cx="25740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xcf01s  (Flash)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4876" y="1828800"/>
            <a:ext cx="25740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0xd5044093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2404872"/>
            <a:ext cx="5422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</a:rPr>
              <a:t>TDI → FPGA(pos1) → Flash(pos2) → TDO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92240" y="2743200"/>
            <a:ext cx="5422392" cy="2103120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 w="19050">
            <a:solidFill>
              <a:srgbClr val="1E7D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2807208"/>
            <a:ext cx="5239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D36"/>
                </a:solidFill>
              </a:rPr>
              <a:t>✅  Após gravar na Flash: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3136392"/>
            <a:ext cx="5148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Desligar USB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0" y="3483864"/>
            <a:ext cx="5148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Desligar a placa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75120" y="3831336"/>
            <a:ext cx="5148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Religar a placa (sem PC, sem cabo)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178808"/>
            <a:ext cx="5148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XCF01S carrega bitstream automaticamente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4526280"/>
            <a:ext cx="5148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D6 acende: jogo pronto! 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Problemas Encontrados e Soluções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56 problemas catalogados — os mais críticos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13 / 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143000"/>
            <a:ext cx="3666744" cy="2194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0160">
            <a:solidFill>
              <a:srgbClr val="27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143000"/>
            <a:ext cx="3666744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188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7010"/>
                </a:solidFill>
              </a:rPr>
              <a:t>P40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188720"/>
            <a:ext cx="3026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FIFO 245, não UART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554480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</a:rPr>
              <a:t>Problema: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64792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Zero bytes chegavam em qualquer
pino uart_tx testado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404872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E7D36"/>
                </a:solidFill>
              </a:rPr>
              <a:t>Solução: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24328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Reescrever VHDL:
8 bits + WR# + TXE#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06824" y="1143000"/>
            <a:ext cx="3666744" cy="2194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0160">
            <a:solidFill>
              <a:srgbClr val="27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06824" y="1143000"/>
            <a:ext cx="3666744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1188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7010"/>
                </a:solidFill>
              </a:rPr>
              <a:t>P44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01184" y="1188720"/>
            <a:ext cx="3026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SVF iMPACT com 162 bytes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8264" y="1554480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</a:rPr>
              <a:t>Problema: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8264" y="1764792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Flash 'gravada' mas firmware
não persistia após power cycle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8264" y="2404872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E7D36"/>
                </a:solidFill>
              </a:rPr>
              <a:t>Solução: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8264" y="2624328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Checar rc + tamanho
mínimo do SVF (&gt;1 KB)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10728" y="1143000"/>
            <a:ext cx="3666744" cy="2194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0160">
            <a:solidFill>
              <a:srgbClr val="27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10728" y="1143000"/>
            <a:ext cx="3666744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8" y="1188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7010"/>
                </a:solidFill>
              </a:rPr>
              <a:t>P45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1188720"/>
            <a:ext cx="3026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xcf04s → xcf01s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8" y="1554480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</a:rPr>
              <a:t>Problema: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1764792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IDCODE 0xd5044093 não
bate com xcf04s esperado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2404872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E7D36"/>
                </a:solidFill>
              </a:rPr>
              <a:t>Solução: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2168" y="2624328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Cruzar com BSDL do ISE:
confirma xcf01s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474720"/>
            <a:ext cx="3666744" cy="2194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0160">
            <a:solidFill>
              <a:srgbClr val="27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474720"/>
            <a:ext cx="3666744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520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7010"/>
                </a:solidFill>
              </a:rPr>
              <a:t>P46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3520440"/>
            <a:ext cx="3026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Cadeia JTAG invertida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3886200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</a:rPr>
              <a:t>Problema: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96512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TDO sempre zero — FPGA
e Flash trocados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736592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E7D36"/>
                </a:solidFill>
              </a:rPr>
              <a:t>Solução: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4956048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Flash=pos1 (TDO)
FPGA=pos2 (TDI)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06824" y="3474720"/>
            <a:ext cx="3666744" cy="2194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0160">
            <a:solidFill>
              <a:srgbClr val="27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306824" y="3474720"/>
            <a:ext cx="3666744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98264" y="3520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7010"/>
                </a:solidFill>
              </a:rPr>
              <a:t>P42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184" y="3520440"/>
            <a:ext cx="3026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P29=GND, P34=VCCO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98264" y="3886200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</a:rPr>
              <a:t>Problema: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98264" y="4096512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PAR rejeitou pinos ao
tentar usar como I/O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98264" y="4736592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E7D36"/>
                </a:solidFill>
              </a:rPr>
              <a:t>Solução: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98264" y="4956048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Usar P27 e P36
(PAD report do ISE)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10728" y="3474720"/>
            <a:ext cx="3666744" cy="2194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0160">
            <a:solidFill>
              <a:srgbClr val="27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10728" y="3474720"/>
            <a:ext cx="3666744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02168" y="3520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7010"/>
                </a:solidFill>
              </a:rPr>
              <a:t>P43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05088" y="3520440"/>
            <a:ext cx="3026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Timing violation BCD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02168" y="3886200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</a:rPr>
              <a:t>Problema: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02168" y="4096512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27,7 ns &gt; 25 ns no caminho
reaction_time_ms→uart_msg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02168" y="4736592"/>
            <a:ext cx="3529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E7D36"/>
                </a:solidFill>
              </a:rPr>
              <a:t>Solução: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02168" y="4956048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TIG no UCF para
esse path específico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62179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3A6B"/>
                </a:solidFill>
              </a:rPr>
              <a:t>💡  Lição principal: leia o esquemático e o datasheet ANTES de escrever UCF e VHDL.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Testes e 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Validação do sistema em bancada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14 /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43000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Testes realizados: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63040"/>
            <a:ext cx="5806440" cy="512064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49047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D36"/>
                </a:solidFill>
              </a:rPr>
              <a:t>✅  Detecção JTAG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1764792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xc3s200=0x01414093 · xcf01s=0xd5044093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029968"/>
            <a:ext cx="5806440" cy="512064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05740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D36"/>
                </a:solidFill>
              </a:rPr>
              <a:t>✅  0 erros de timing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233172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PAR: Timing errors: 0  Score: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596896"/>
            <a:ext cx="5806440" cy="512064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262432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D36"/>
                </a:solidFill>
              </a:rPr>
              <a:t>✅  Gravação na 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289864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pld load → rc=0 · D6 acendeu imediatamente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63824"/>
            <a:ext cx="5806440" cy="512064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19125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D36"/>
                </a:solidFill>
              </a:rPr>
              <a:t>✅  Flash permanente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346557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Power cycle sem USB → D6 acendeu automaticamente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730752"/>
            <a:ext cx="5806440" cy="512064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" y="3758184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D36"/>
                </a:solidFill>
              </a:rPr>
              <a:t>✅  Jogo IDLE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4032504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D6 aceso ao ligar a placa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297680"/>
            <a:ext cx="5806440" cy="512064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3251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D36"/>
                </a:solidFill>
              </a:rPr>
              <a:t>✅  Sinal aleatório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4599432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D5 acendeu após intervalo variável (5 partidas)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864608"/>
            <a:ext cx="5806440" cy="512064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489204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D36"/>
                </a:solidFill>
              </a:rPr>
              <a:t>✅  EARLY (cedo demais)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51663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Pressionar antes de D5 → D7 acendeu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431536"/>
            <a:ext cx="5806440" cy="512064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545896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D36"/>
                </a:solidFill>
              </a:rPr>
              <a:t>✅  TIMEOUT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" y="573328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Não reagir por ~10 s → D7 acendeu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998464"/>
            <a:ext cx="5806440" cy="512064"/>
          </a:xfrm>
          <a:prstGeom prst="roundRect">
            <a:avLst>
              <a:gd name="adj" fmla="val 5000"/>
            </a:avLst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" y="602589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07010"/>
                </a:solidFill>
              </a:rPr>
              <a:t>⏳  Dados FIFO ttyUSB1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630021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Porta aparece no sistema · teste de bytes pendente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1143000"/>
            <a:ext cx="5148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Saída real do OpenOCD: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66560" y="1435608"/>
            <a:ext cx="5148072" cy="2139696"/>
          </a:xfrm>
          <a:prstGeom prst="roundRect">
            <a:avLst>
              <a:gd name="adj" fmla="val 5000"/>
            </a:avLst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76288" y="1490472"/>
            <a:ext cx="4965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$ openocd -f gravar.cfg ...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6288" y="1746504"/>
            <a:ext cx="4965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Info : JTAG tap: xc3s200 tap/device found: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76288" y="2002536"/>
            <a:ext cx="4965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       0x01414093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76288" y="2258568"/>
            <a:ext cx="4965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Info : JTAG tap: platform_flash tap/device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8" y="2514600"/>
            <a:ext cx="4965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       found: 0xd5044093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6288" y="2770632"/>
            <a:ext cx="4965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Info : pld load 0 'reflex_game.bit'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76288" y="3026664"/>
            <a:ext cx="4965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return code: 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76288" y="3282696"/>
            <a:ext cx="4965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F0D8"/>
                </a:solidFill>
              </a:rPr>
              <a:t>$ # D6 acendeu — jogo pronto!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17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Conclusão e Aprendizados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8EE"/>
                </a:solidFill>
              </a:rPr>
              <a:t>Resultado final · O que levamos desta experiência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143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1478"/>
            <a:ext cx="12188952" cy="19050"/>
          </a:xfrm>
          <a:prstGeom prst="rect">
            <a:avLst/>
          </a:prstGeom>
          <a:solidFill>
            <a:srgbClr val="E07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3A6B"/>
                </a:solidFill>
              </a:rPr>
              <a:t>Expande Tech  ·  Linguagem de Descrição de Hardware  ·  Junho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537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1A3A6B"/>
                </a:solidFill>
              </a:rPr>
              <a:t>15 / 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143000"/>
            <a:ext cx="5669280" cy="1463040"/>
          </a:xfrm>
          <a:prstGeom prst="roundRect">
            <a:avLst>
              <a:gd name="adj" fmla="val 5000"/>
            </a:avLst>
          </a:prstGeom>
          <a:solidFill>
            <a:srgbClr val="E8FFD8"/>
          </a:solidFill>
          <a:ln w="25400">
            <a:solidFill>
              <a:srgbClr val="1E7D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2161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7D36"/>
                </a:solidFill>
              </a:rPr>
              <a:t>✅  Resultado final: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5819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Jogo funcional gravado permanentemente na Flash XCF01S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91109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Carrega sem PC · 3 LEDs · botão · USB FIFO · resolução 1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·  344 slices (17,9%) · 0 erros de timing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432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Sobre VHDL: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6324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VHDL descreve hardware paralelo — dois processos rodam ao mesmo tempo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47472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FSMs são a estrutura central do design digital síncrono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886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UCF é tão crítico quanto o VHDL — pino errado = sem saída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29768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TIG permite síntese limpa quando um caminho é logicamente seguro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Sobre processo: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148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Ler datasheet + esquemático ANTES de codificar economiza horas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4126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Verificar IDCODE dos chips JTAG antes de gerar SVF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93445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▸  Validar tamanho do SVF evita falso-positivo de gravação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143000"/>
            <a:ext cx="5330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Ferramentas utilizadas: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1463040"/>
            <a:ext cx="1371600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6656832" y="153619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Ferramenta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80" y="1463040"/>
            <a:ext cx="3913632" cy="34747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</a:p>
        </p:txBody>
      </p:sp>
      <p:sp>
        <p:nvSpPr>
          <p:cNvPr id="30" name="TextBox 29"/>
          <p:cNvSpPr txBox="1"/>
          <p:nvPr/>
        </p:nvSpPr>
        <p:spPr>
          <a:xfrm>
            <a:off x="8028432" y="1536192"/>
            <a:ext cx="3822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Uso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1810512"/>
            <a:ext cx="13716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56832" y="185623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ISE 14.7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80" y="1810512"/>
            <a:ext cx="3913632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2" y="1856232"/>
            <a:ext cx="3822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XST · NGDBuild · MAP · PAR · BitGen · iMPACT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219456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56832" y="224028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OpenOCD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80" y="2194560"/>
            <a:ext cx="391363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28432" y="2240280"/>
            <a:ext cx="3822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Gravação JTAG (pld load e svf)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2578608"/>
            <a:ext cx="13716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56832" y="262432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xc3sprog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55280" y="2578608"/>
            <a:ext cx="3913632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28432" y="2624328"/>
            <a:ext cx="3822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Alternativa simples para JTAG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296265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56832" y="300837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promgen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55280" y="2962656"/>
            <a:ext cx="391363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8432" y="3008376"/>
            <a:ext cx="3822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Conversão .bit → .mcs (formato Flash)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0" y="3346704"/>
            <a:ext cx="137160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56832" y="339242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Python/tkinter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5280" y="3346704"/>
            <a:ext cx="3913632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28432" y="3392424"/>
            <a:ext cx="3822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Painel de controle com monitor serial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3886200"/>
            <a:ext cx="5330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A6B"/>
                </a:solidFill>
              </a:rPr>
              <a:t>Referências: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4233672"/>
            <a:ext cx="617220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38544" y="4251960"/>
            <a:ext cx="5440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DS099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4279392"/>
            <a:ext cx="3639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Spartan-3 FPGA Data Sheet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0" y="4645152"/>
            <a:ext cx="617220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38544" y="4663440"/>
            <a:ext cx="5440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UG331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690872"/>
            <a:ext cx="3639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Spartan-3 FPGA User Guide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83680" y="5056632"/>
            <a:ext cx="1083564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38544" y="5074920"/>
            <a:ext cx="10104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BSDL xcf01s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5102352"/>
            <a:ext cx="3639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Identificação correta da Flash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83680" y="5468112"/>
            <a:ext cx="1005840" cy="256032"/>
          </a:xfrm>
          <a:prstGeom prst="roundRect">
            <a:avLst>
              <a:gd name="adj" fmla="val 5000"/>
            </a:avLst>
          </a:prstGeom>
          <a:solidFill>
            <a:srgbClr val="275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38544" y="5486400"/>
            <a:ext cx="9326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PAD Report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5513832"/>
            <a:ext cx="3639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Validação dos pinos do package TQ144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5943600"/>
            <a:ext cx="11155680" cy="457200"/>
          </a:xfrm>
          <a:prstGeom prst="roundRect">
            <a:avLst>
              <a:gd name="adj" fmla="val 5000"/>
            </a:avLst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596188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Obrigado!  ·  Expande Tech  ·  Junho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