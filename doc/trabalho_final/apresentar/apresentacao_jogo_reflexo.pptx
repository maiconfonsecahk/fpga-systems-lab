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606040"/>
          </a:xfrm>
          <a:prstGeom prst="rect">
            <a:avLst/>
          </a:prstGeom>
          <a:solidFill>
            <a:srgbClr val="0F2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606040"/>
            <a:ext cx="12188952" cy="3810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Jogo de Reflexo em FPGA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8EE"/>
                </a:solidFill>
              </a:rPr>
              <a:t>Spartan-3 XC3S200  ·  Bionexus TX-LED R27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07010"/>
                </a:solidFill>
              </a:rPr>
              <a:t>Expande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Felipe  ·  Maicon  ·  Paulo Henrique  ·  Willian Colleti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144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A8CC"/>
                </a:solidFill>
              </a:rPr>
              <a:t>Disciplina: Linguagem de Descrição de Hardware  · 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Desafio Recebido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O que foi proposto pelo professor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2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4300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 w="1905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2344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A6B"/>
                </a:solidFill>
              </a:rPr>
              <a:t>Implementar projeto digital em VHDL para FPGA,
com gravação permanente via USB e comunicação
de resultados ao PC.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Entregáveis obrigatórios: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6032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▸  Código VHDL base (Pisca LED 1 Hz — exemplo)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8950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A6B"/>
                </a:solidFill>
              </a:rPr>
              <a:t>▶  Projeto principal: Jogo de Reflexo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186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▸  Documento técnico da placa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4787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▸  Slides de apresentação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Hardware fornecido: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164592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21" name="TextBox 20"/>
          <p:cNvSpPr txBox="1"/>
          <p:nvPr/>
        </p:nvSpPr>
        <p:spPr>
          <a:xfrm>
            <a:off x="6473952" y="15361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463040"/>
            <a:ext cx="36118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23" name="TextBox 22"/>
          <p:cNvSpPr txBox="1"/>
          <p:nvPr/>
        </p:nvSpPr>
        <p:spPr>
          <a:xfrm>
            <a:off x="8119872" y="15361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10512"/>
            <a:ext cx="16459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18562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Placa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810512"/>
            <a:ext cx="36118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185623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Bionexus TX-LED R27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139696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1854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FPGA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139696"/>
            <a:ext cx="3611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2" y="218541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Xilinx XC3S200-4TQG144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468880"/>
            <a:ext cx="16459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2514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Clock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468880"/>
            <a:ext cx="36118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251460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40 MHz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798064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284378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Alimentação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2798064"/>
            <a:ext cx="3611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872" y="284378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16 V DC / 500 mA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127248"/>
            <a:ext cx="16459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1729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USB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127248"/>
            <a:ext cx="36118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2" y="317296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FT2232H dual-channel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456432"/>
            <a:ext cx="1645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350215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Flash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3456432"/>
            <a:ext cx="36118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9872" y="350215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XCF01S — 1 Mbit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785616"/>
            <a:ext cx="16459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383133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Gravação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785616"/>
            <a:ext cx="36118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9872" y="383133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xc3sprog / OpenOCD via USB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 Placa: Bionexus TX-LED R27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Identificação e componentes principais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3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Diagrama de blocos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508760"/>
            <a:ext cx="2194560" cy="164592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905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544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FT2232H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Canal A → JTAG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Canal B → FIFO 245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057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USB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371600"/>
            <a:ext cx="2377440" cy="2011680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 w="19050">
            <a:solidFill>
              <a:srgbClr val="1E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7D36"/>
                </a:solidFill>
              </a:rPr>
              <a:t>XC3S200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83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P51 → LED D5 (reflexo)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1122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P50 → LED D6 (status)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441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P47 → LED D7 (erro)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P56 ← BTN (botão)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61188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FF0E0"/>
          </a:solidFill>
          <a:ln w="12700">
            <a:solidFill>
              <a:srgbClr val="E07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7010"/>
                </a:solidFill>
              </a:rPr>
              <a:t>XCF01S — Platform Flash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1 Mbit · firmware permanente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18288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755A0"/>
                </a:solidFill>
              </a:rPr>
              <a:t>JTAG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28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755A0"/>
                </a:solidFill>
              </a:rPr>
              <a:t>FIFO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2689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07010"/>
                </a:solidFill>
              </a:rPr>
              <a:t>JTAG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143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Especificações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1463040"/>
            <a:ext cx="164592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6656832" y="15361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Campo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463040"/>
            <a:ext cx="33832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4" name="TextBox 33"/>
          <p:cNvSpPr txBox="1"/>
          <p:nvPr/>
        </p:nvSpPr>
        <p:spPr>
          <a:xfrm>
            <a:off x="8302752" y="1536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1810512"/>
            <a:ext cx="16459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18562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Placa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18562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Bionexus TX-LED R27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130552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21762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FPGA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130552"/>
            <a:ext cx="3383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21762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XC3S200-4TQG144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2450592"/>
            <a:ext cx="16459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24963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Clock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450592"/>
            <a:ext cx="33832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24963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40 MHz — pino P53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2770632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28163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Alimentação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2770632"/>
            <a:ext cx="3383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28163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16 V DC / 500 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3090672"/>
            <a:ext cx="16459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3136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3090672"/>
            <a:ext cx="33832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31363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D5(P51) · D6(P50) · D7(P47)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0" y="3410712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3456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Botão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3410712"/>
            <a:ext cx="3383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02752" y="3456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P56 — pull-down módulo 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3730752"/>
            <a:ext cx="16459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56832" y="37764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USB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3730752"/>
            <a:ext cx="33832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02752" y="37764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FT2232H — 0403:70b1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4050792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56832" y="4096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Flash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4050792"/>
            <a:ext cx="3383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02752" y="4096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XCF01S — 1 Mbit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Requisitos do Jogo de Reflexo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O que o sistema deve fazer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4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A6B"/>
                </a:solidFill>
              </a:rPr>
              <a:t>O jogador pressiona um botão e o sistema mede quanto tempo levou para reagir ao 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087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Fluxo de uma partida: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7830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0136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Ligar a placa
D6 aceso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1031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17830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180136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Pressionar
botão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1031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7830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80136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Espera
aleatória
1–5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1031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7830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80136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D5 ACENDE
hora de
reagir!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1031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17830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80136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Botão
pressionado
→ mede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1031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1783080"/>
            <a:ext cx="1554480" cy="914400"/>
          </a:xfrm>
          <a:prstGeom prst="roundRect">
            <a:avLst>
              <a:gd name="adj" fmla="val 5000"/>
            </a:avLst>
          </a:prstGeom>
          <a:solidFill>
            <a:srgbClr val="1E7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801368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Resultado
no PC
RESULT_MS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834640"/>
            <a:ext cx="73152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576072" y="29077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" y="2834640"/>
            <a:ext cx="969264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4" name="TextBox 33"/>
          <p:cNvSpPr txBox="1"/>
          <p:nvPr/>
        </p:nvSpPr>
        <p:spPr>
          <a:xfrm>
            <a:off x="1307592" y="29077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Requisito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27080" y="2834640"/>
            <a:ext cx="6400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6" name="TextBox 35"/>
          <p:cNvSpPr txBox="1"/>
          <p:nvPr/>
        </p:nvSpPr>
        <p:spPr>
          <a:xfrm>
            <a:off x="11000232" y="29077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182112"/>
            <a:ext cx="7315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32278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440" y="3182112"/>
            <a:ext cx="96926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07592" y="32278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D6 aceso em IDLE (aguardando jogador)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27080" y="318211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0232" y="32278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50215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3547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440" y="350215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07592" y="35478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 D5 acende após intervalo aleatório de 1 a 5 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27080" y="3502152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00232" y="3547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822192"/>
            <a:ext cx="7315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38679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440" y="3822192"/>
            <a:ext cx="96926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07592" y="38679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Mede tempo de reação em ms — resolução de 1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27080" y="382219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0232" y="38679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14223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" y="4187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440" y="414223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07592" y="41879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D7 acende ao pressionar cedo demais (EARLY)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27080" y="4142232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000232" y="4187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462272"/>
            <a:ext cx="7315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4507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34440" y="4462272"/>
            <a:ext cx="96926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07592" y="45079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D7 acende em TIMEOUT (9.999 ms sem reação)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927080" y="446227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000232" y="45079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478231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072" y="48280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34440" y="4782312"/>
            <a:ext cx="96926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07592" y="48280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Envia resultado ao PC via USB FIFO 245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927080" y="4782312"/>
            <a:ext cx="6400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00232" y="4828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102352"/>
            <a:ext cx="73152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" y="51480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RF-07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34440" y="5102352"/>
            <a:ext cx="969264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07592" y="51480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Firmware permanente — carrega automaticamente ao ligar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927080" y="5102352"/>
            <a:ext cx="640080" cy="3200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00232" y="5148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Pinagem Utilizada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Mapeamento sinal VHDL → pino físico → periférico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5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Sinais do jogo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17320"/>
            <a:ext cx="15544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576072" y="14904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Sinal VHDL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417320"/>
            <a:ext cx="6400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2130552" y="14904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417320"/>
            <a:ext cx="73152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18" name="TextBox 17"/>
          <p:cNvSpPr txBox="1"/>
          <p:nvPr/>
        </p:nvSpPr>
        <p:spPr>
          <a:xfrm>
            <a:off x="2770632" y="14904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417320"/>
            <a:ext cx="27432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3502152" y="149047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Função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764792"/>
            <a:ext cx="15544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18105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1764792"/>
            <a:ext cx="6400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0552" y="1810512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P53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1764792"/>
            <a:ext cx="7315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181051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Entrada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1764792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8105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Clock 40 MHz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093976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13969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btn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2093976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0552" y="2139696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P56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2093976"/>
            <a:ext cx="731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0632" y="2139696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Entrada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2093976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02152" y="213969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Botão de resposta (pull-down BLE)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423160"/>
            <a:ext cx="15544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24688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led_reflexo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423160"/>
            <a:ext cx="6400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0552" y="2468880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P51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2423160"/>
            <a:ext cx="7315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70632" y="2468880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Saída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2423160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02152" y="2468880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 D5 — hora de reagir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752344"/>
            <a:ext cx="15544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279806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led_status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752344"/>
            <a:ext cx="640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30552" y="2798064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2752344"/>
            <a:ext cx="731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70632" y="27980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Saída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2752344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02152" y="279806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 D6 — IDLE / resultado 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081528"/>
            <a:ext cx="15544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312724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led_erro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3081528"/>
            <a:ext cx="64008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30552" y="3127248"/>
            <a:ext cx="548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P47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3081528"/>
            <a:ext cx="73152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70632" y="3127248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Saída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3081528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02152" y="312724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 D7 — EARLY / TIMEOUT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35204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Interface FIFO 245 — Canal B FT2232H (Bank 6)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3794760"/>
            <a:ext cx="10972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63" name="TextBox 62"/>
          <p:cNvSpPr txBox="1"/>
          <p:nvPr/>
        </p:nvSpPr>
        <p:spPr>
          <a:xfrm>
            <a:off x="576072" y="386791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Sinal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794760"/>
            <a:ext cx="20116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65" name="TextBox 64"/>
          <p:cNvSpPr txBox="1"/>
          <p:nvPr/>
        </p:nvSpPr>
        <p:spPr>
          <a:xfrm>
            <a:off x="1673352" y="38679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Pinos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11880" y="3794760"/>
            <a:ext cx="6400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67" name="TextBox 66"/>
          <p:cNvSpPr txBox="1"/>
          <p:nvPr/>
        </p:nvSpPr>
        <p:spPr>
          <a:xfrm>
            <a:off x="3685032" y="386791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Dir.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0" y="3794760"/>
            <a:ext cx="192024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69" name="TextBox 68"/>
          <p:cNvSpPr txBox="1"/>
          <p:nvPr/>
        </p:nvSpPr>
        <p:spPr>
          <a:xfrm>
            <a:off x="4325112" y="3867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Função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4142232"/>
            <a:ext cx="10972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72" y="41879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usb_d[0..7]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00200" y="4142232"/>
            <a:ext cx="20116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73352" y="41879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P31/P30/P27/P28/
P32/P33/P36/P35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11880" y="4142232"/>
            <a:ext cx="6400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85032" y="418795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Saída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0" y="4142232"/>
            <a:ext cx="19202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25112" y="41879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Dado 8 bits (BDBUS0-7)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2920" y="4526280"/>
            <a:ext cx="10972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6072" y="45720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usb_wr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52628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73352" y="45720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P21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11880" y="4526280"/>
            <a:ext cx="640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85032" y="457200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Saída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51960" y="4526280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25112" y="4572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WR# write strobe ativo baixo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4910328"/>
            <a:ext cx="10972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6072" y="495604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usb_txe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00200" y="4910328"/>
            <a:ext cx="20116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673352" y="49560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P26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11880" y="4910328"/>
            <a:ext cx="6400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85032" y="495604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Entrada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51960" y="4910328"/>
            <a:ext cx="19202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25112" y="49560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TXE# — FIFO TX não cheia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0" y="1143000"/>
            <a:ext cx="5330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⚠  Pinos reservados — NÃO usar como I/O!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583680" y="1463040"/>
            <a:ext cx="5330952" cy="137160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20840" y="1554480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P29 = GND (pino de terra)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1773936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</a:rPr>
              <a:t>P34 = VCCO_6 (alimentação do Bank 6)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0840" y="1993392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20840" y="2212848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Atribuir esses pinos no UCF causa rejeição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20840" y="2432304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pelo MAP/PAR do ISE 14.7.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0840" y="2651760"/>
            <a:ext cx="5148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Descoberto ao analisar o PAD report.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0" y="297180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Exemplo de constraints UCF: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583680" y="3246120"/>
            <a:ext cx="5330952" cy="1115568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693408" y="3300984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F0D8"/>
                </a:solidFill>
              </a:rPr>
              <a:t>NET "clk"      LOC = "P53" | IOSTANDARD = LVCMOS33;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93408" y="3557016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F0D8"/>
                </a:solidFill>
              </a:rPr>
              <a:t>NET "btn"      LOC = "P56" | IOSTANDARD = LVCMOS33 | PULLDOWN;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93408" y="3813048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F0D8"/>
                </a:solidFill>
              </a:rPr>
              <a:t>NET "usb_d&lt;0&gt;" LOC = "P31" | IOSTANDARD = LVCMOS33;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93408" y="4069080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F0D8"/>
                </a:solidFill>
              </a:rPr>
              <a:t>NET "usb_wr"   LOC = "P21" | IOSTANDARD = LVCMOS33;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Arquitetura VHDL: Dois Processos Paralelos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A lógica paralela do FPGA — não é código sequencial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6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234440"/>
            <a:ext cx="5120640" cy="365760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 w="254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entity reflex_game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1645920"/>
            <a:ext cx="4663440" cy="1554480"/>
          </a:xfrm>
          <a:prstGeom prst="roundRect">
            <a:avLst>
              <a:gd name="adj" fmla="val 5000"/>
            </a:avLst>
          </a:prstGeom>
          <a:solidFill>
            <a:srgbClr val="E8F0FF"/>
          </a:solidFill>
          <a:ln w="1905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691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55A0"/>
                </a:solidFill>
              </a:rPr>
              <a:t>game_proc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0116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FSM do jogo (7 estados)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31343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Debounce + sincronizador 2-FF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151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LFSR 16 bits (aleatoriedade)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91693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Divisor de ms + conversão BCD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337560"/>
            <a:ext cx="4663440" cy="1417320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 w="19050">
            <a:solidFill>
              <a:srgbClr val="1E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383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fifo_proc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49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FIFO TX 245 (5 estados)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507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Aguarda uart_trigger='1'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525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Envia byte a byte com pulso WR# ≥ 50 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143000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Entradas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463040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clk  (P53)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847088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btn  (P56)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31136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usb_txe  (P26)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788920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Saídas — LEDs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108960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led_reflexo  (P51)  → D5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93008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led_status  (P50)  → D6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877056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led_erro  (P47)  → D7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Saídas — FIFO USB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09160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usb_d[7:0]  (P27-P36)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093208"/>
            <a:ext cx="4965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usb_wr  (P21)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5715000"/>
            <a:ext cx="4965192" cy="822960"/>
          </a:xfrm>
          <a:prstGeom prst="roundRect">
            <a:avLst>
              <a:gd name="adj" fmla="val 5000"/>
            </a:avLst>
          </a:prstGeom>
          <a:solidFill>
            <a:srgbClr val="FFF8E0"/>
          </a:solidFill>
          <a:ln w="19050">
            <a:solidFill>
              <a:srgbClr val="E07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5760720"/>
            <a:ext cx="4828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7010"/>
                </a:solidFill>
              </a:rPr>
              <a:t>⚡ Paralelismo real no FPGA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6062472"/>
            <a:ext cx="4828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game_proc e fifo_proc executam
ao mesmo tempo — software não consegue isso!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Máquina de Estados do Jogo (FSM)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7 estados · Transições por eventos de 1 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7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Comportamento dos LEDs por estado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35608"/>
            <a:ext cx="146304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576072" y="1508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Estado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1435608"/>
            <a:ext cx="4572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16" name="TextBox 15"/>
          <p:cNvSpPr txBox="1"/>
          <p:nvPr/>
        </p:nvSpPr>
        <p:spPr>
          <a:xfrm>
            <a:off x="2039112" y="1508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435608"/>
            <a:ext cx="4572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18" name="TextBox 17"/>
          <p:cNvSpPr txBox="1"/>
          <p:nvPr/>
        </p:nvSpPr>
        <p:spPr>
          <a:xfrm>
            <a:off x="2496312" y="1508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435608"/>
            <a:ext cx="4572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20" name="TextBox 19"/>
          <p:cNvSpPr txBox="1"/>
          <p:nvPr/>
        </p:nvSpPr>
        <p:spPr>
          <a:xfrm>
            <a:off x="2953512" y="15087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1435608"/>
            <a:ext cx="27432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22" name="TextBox 21"/>
          <p:cNvSpPr txBox="1"/>
          <p:nvPr/>
        </p:nvSpPr>
        <p:spPr>
          <a:xfrm>
            <a:off x="3410712" y="15087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1783080"/>
            <a:ext cx="14630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1828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IDLE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1783080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39112" y="18288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23160" y="1783080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6312" y="18288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1783080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18288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783080"/>
            <a:ext cx="2743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712" y="182880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Aguardando início de jogo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16712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22128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WAIT_RELEASE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2167128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39112" y="221284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2167128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221284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2167128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53512" y="221284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2167128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221284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Aguardando soltar o botão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551176"/>
            <a:ext cx="14630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WAIT_RANDOM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65960" y="2551176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9112" y="259689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23160" y="2551176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96312" y="259689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2551176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53512" y="2596896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2551176"/>
            <a:ext cx="2743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10712" y="2596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Contando tempo aleatório (1–5 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935224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LED_ON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65960" y="2935224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39112" y="29809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23160" y="2935224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96312" y="29809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2935224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53512" y="29809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2935224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10712" y="298094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Medindo tempo de reação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319272"/>
            <a:ext cx="14630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" y="33649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RESULT_OK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65960" y="3319272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39112" y="33649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23160" y="3319272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96312" y="33649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80360" y="3319272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33649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37560" y="3319272"/>
            <a:ext cx="2743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10712" y="33649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Resultado válido (3 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3703320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" y="37490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EARLY_PRESS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65960" y="370332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39112" y="37490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23160" y="370332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96312" y="37490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3703320"/>
            <a:ext cx="457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53512" y="374904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337560" y="3703320"/>
            <a:ext cx="27432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10712" y="37490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Pressionou antes do LED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4087368"/>
            <a:ext cx="14630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" y="41330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TIMEOUT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65960" y="4087368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39112" y="413308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23160" y="4087368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96312" y="413308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80360" y="4087368"/>
            <a:ext cx="457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53512" y="4133088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37560" y="4087368"/>
            <a:ext cx="27432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10712" y="413308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Não reagiu em 9.999 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595360" y="1325879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641080" y="13990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IDLE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495904" y="2423159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541624" y="24963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WAIT_RELEASE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495904" y="4617719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41624" y="469087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WAIT_RANDOM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595360" y="5714999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641080" y="578815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LED_ON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94815" y="4617719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1E7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40535" y="469087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RESULT_OK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694815" y="2423159"/>
            <a:ext cx="1463040" cy="45720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40535" y="24963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EARLY_PRESS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1704320" y="4206239"/>
            <a:ext cx="1371600" cy="45720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750040" y="427939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0" y="16916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btn press → inicia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58400" y="2286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btn solto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41280" y="3474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tempo expirou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12480" y="3474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btn press (reação)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046720" y="4754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3 s → volta IDLE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29600" y="2560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btn cedo 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521440" y="393191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2755A0"/>
                </a:solidFill>
              </a:rPr>
              <a:t>9,999 s → TIMEOUT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Aleatoriedade: LFSR de 16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Por que o intervalo de espera é imprevisível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8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A6B"/>
                </a:solidFill>
              </a:rPr>
              <a:t>Um LFSR avança 40 milhões de vezes por segundo.
No instante exato do clique, 12 bits definem o atraso.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LFSR de 16 bits — polinômio x¹⁶+x¹⁴+x¹³+x¹¹+1: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61288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90472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90472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19656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9656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8024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024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07208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07208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36392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5576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65576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23944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23944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53128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82312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82312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11496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057400"/>
            <a:ext cx="301752" cy="347472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2103120"/>
            <a:ext cx="30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2560320"/>
            <a:ext cx="5669280" cy="1883664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26151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-- XOR dos taps de feedback: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28712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lfsr_feedback := lfsr(15) xor lfsr(13) xor lfsr(12) xor lfsr(10);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127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lfsr &lt;= lfsr(14 downto 0) &amp; lfsr_feedback;  -- shift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" y="33832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639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-- Ao pressionar o botão: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38953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delay_target_ms &lt;= 1000 + to_integer(lfsr(11 downto 0));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" y="415137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--                  min 1s    0 a 4095 ms extras → até ~5 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114300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Por que não um contador simples?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1435608"/>
            <a:ext cx="5330952" cy="109728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40" y="1490472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</a:rPr>
              <a:t>❌  Problema com contador: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1764792"/>
            <a:ext cx="5148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Sempre o mesmo intervalo →
jogador memoriza o padrão em 2 rodadas!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2651760"/>
            <a:ext cx="5330952" cy="1097280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 w="19050">
            <a:solidFill>
              <a:srgbClr val="1E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2697480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Solução com LFSR: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20840" y="2971800"/>
            <a:ext cx="5148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65.535 valores únicos antes de repetir
→ padrão imprevisível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88620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Propriedades do LFSR: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4206240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Implementado em flip-flops + XOR (zero custo extra)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590288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Avança automaticamente todo ciclo de clock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974336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Período: 2¹⁶ − 1 = 65.535 estados únicos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5358384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Intervalo: 1.000 ms a 5.095 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Comunicação com o PC: FIFO 245 Assíncrono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Por que não UART — e como o protocolo funciona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9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6B"/>
                </a:solidFill>
              </a:rPr>
              <a:t>O Canal B do FT2232H expõe barramento paralelo de 8 bits (BDBUS0-7)
mais WR# e TXE#. Isso é Async FIFO 245 — não UART de 1 fio.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Protocolo de escrita (FPGA → FT2232H → PC):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05740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11226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D8"/>
                </a:solidFill>
              </a:rPr>
              <a:t>1. Aguardar TXE# = '0'  (FIFO TX não está cheia)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368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D8"/>
                </a:solidFill>
              </a:rPr>
              <a:t>2. Colocar byte em D[7:0]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6243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D8"/>
                </a:solidFill>
              </a:rPr>
              <a:t>3. Pulsar WR# = '0' por &gt;= 50 ns  (2 ciclos a 40 MHz)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8803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D8"/>
                </a:solidFill>
              </a:rPr>
              <a:t>4. Liberar WR# = '1'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1363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F0D8"/>
                </a:solidFill>
              </a:rPr>
              <a:t>5. Repetir para o próximo byte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747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FSM fifo_proc — 5 estados: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76472"/>
            <a:ext cx="1005840" cy="384048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8221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FTX_IDLE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840480"/>
            <a:ext cx="109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18488" y="3776472"/>
            <a:ext cx="1005840" cy="384048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8221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FTX_CHECK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2616" y="3840480"/>
            <a:ext cx="109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34056" y="3776472"/>
            <a:ext cx="1005840" cy="384048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38221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FTX_STROBE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4" y="3840480"/>
            <a:ext cx="109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9624" y="3776472"/>
            <a:ext cx="1005840" cy="384048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77056" y="38221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FTX_WAIT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2" y="3840480"/>
            <a:ext cx="109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65192" y="3776472"/>
            <a:ext cx="1005840" cy="384048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92624" y="382219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FTX_NEXT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14300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Mensagens enviadas ao PC: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435608"/>
            <a:ext cx="146304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7" name="TextBox 36"/>
          <p:cNvSpPr txBox="1"/>
          <p:nvPr/>
        </p:nvSpPr>
        <p:spPr>
          <a:xfrm>
            <a:off x="6656832" y="1508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Evento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435608"/>
            <a:ext cx="256032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9" name="TextBox 38"/>
          <p:cNvSpPr txBox="1"/>
          <p:nvPr/>
        </p:nvSpPr>
        <p:spPr>
          <a:xfrm>
            <a:off x="8119872" y="1508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Mensagem ASCII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07040" y="1435608"/>
            <a:ext cx="64008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41" name="TextBox 40"/>
          <p:cNvSpPr txBox="1"/>
          <p:nvPr/>
        </p:nvSpPr>
        <p:spPr>
          <a:xfrm>
            <a:off x="10680192" y="15087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1783080"/>
            <a:ext cx="14630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1828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Reação válida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783080"/>
            <a:ext cx="256032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9872" y="1828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RESULT_MS=0342\r\n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0" y="1783080"/>
            <a:ext cx="6400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80192" y="182880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16 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16712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56832" y="22128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Antes do LED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216712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9872" y="22128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EARLY\r\n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07040" y="2167128"/>
            <a:ext cx="640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80192" y="221284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7 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551176"/>
            <a:ext cx="14630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56832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Sem reação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2551176"/>
            <a:ext cx="256032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19872" y="2596896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TIMEOUT\r\n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607040" y="2551176"/>
            <a:ext cx="64008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80192" y="259689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9 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0" y="2971800"/>
            <a:ext cx="5330952" cy="164592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3017519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</a:rPr>
              <a:t>❌  Erro cometido: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3319272"/>
            <a:ext cx="51480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Tentamos usar 1 pino uart_tx
(P28, P30, P29, P93) — zero bytes
chegavam.
Causa: Canal B é barramento
paralelo, não UART serial.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75488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Monitor serial: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0" y="5074920"/>
            <a:ext cx="5330952" cy="859536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93408" y="5129784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/dev/ttyUSB1  (Linux — Interface 01)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3408" y="5385816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COM2  (Windows)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93408" y="5641848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Baudrate: qualquer (FT2232H ignora)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5888228"/>
            <a:ext cx="11640312" cy="571500"/>
          </a:xfrm>
          <a:prstGeom prst="roundRect">
            <a:avLst>
              <a:gd name="adj" fmla="val 5000"/>
            </a:avLst>
          </a:prstGeom>
          <a:solidFill>
            <a:srgbClr val="E0F5FF"/>
          </a:solidFill>
          <a:ln w="15240">
            <a:solidFill>
              <a:srgbClr val="14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59644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Canal B → testamos uart_tx P28/P30/P29/P93 → zero bytes → leu esquemático → FIFO 245: barramento paralelo 8 bits + WR# + TXE#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61930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Protocolo: TXE=0 → coloca byte nos 8 fios → pulsa WR baixo 50 ns (2 ciclos a 40 MHz) → solta → repete  ·  FSM: IDLE → CHECK → STROBE → WAIT →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Conversão BCD e Timing Violation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Como o FPGA transforma 342 em '0342' — e o problema de timing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10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3A6B"/>
                </a:solidFill>
              </a:rPr>
              <a:t>Para transmitir RESULT_MS=0342, o FPGA precisa converter o
inteiro 342 em ASCII. Divisão não é suportada pelo XST →
usamos subtrações sucessivas: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37360"/>
            <a:ext cx="5669280" cy="2907792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79222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rms := reaction_time_ms;  -- ex: 342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4825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if    rms &gt;= 9000 then d3 := 9; rms := rms - 9000;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3042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elsif rms &gt;= 8000 then d3 := 8; rms := rms - 8000;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560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-- ... (10 ramos, do 9 ao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8163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-- Repete para centenas (d2), dezenas (d1), unidades (d0)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072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32841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-- Converte para ASCII: '0' = 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584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uart_msg(10) &lt;= to_unsigned(d3 + 48, 8);  -- '3'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840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uart_msg(11) &lt;= to_unsigned(d2 + 48, 8);  -- '4'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0965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uart_msg(12) &lt;= to_unsigned(d1 + 48, 8);  -- '2'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35254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uart_msg(13) &lt;= to_unsigned(d0 + 48, 8);  -- '0' -&gt; espera, '2' não!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14300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O problema de timing: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1435608"/>
            <a:ext cx="5330952" cy="155448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508760"/>
            <a:ext cx="5148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</a:rPr>
              <a:t>24 níveis de lógica combinacional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783080"/>
            <a:ext cx="5148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</a:rPr>
              <a:t>Atraso medido pelo PAR: 27,7 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057400"/>
            <a:ext cx="5148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Clock da placa: 25 ns (40 MHz)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331720"/>
            <a:ext cx="5148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0392B"/>
                </a:solidFill>
              </a:rPr>
              <a:t>27,7 ns &gt; 25 ns → FALHA de timing!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606040"/>
            <a:ext cx="5148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PAR reportou 16 timing errors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10896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7D36"/>
                </a:solidFill>
              </a:rPr>
              <a:t>A solução — constraint TIG no UCF: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429000"/>
            <a:ext cx="5330952" cy="1115568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3483864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INST "reaction_time_ms_*" TNM = "TG_rms";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3739896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INST "uart_msg_*_*"       TNM = "TG_uart_msg";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3995928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TIMESPEC "TS_bcd" 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251960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  FROM "TG_rms" TO "TG_uart_msg" TIG;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663440"/>
            <a:ext cx="5330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Por que TIG é seguro aqui?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983480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Executa apenas 1× por pressão de botão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349240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Não ocorre em clocks consecutivos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715000"/>
            <a:ext cx="5330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Valor já estabilizou antes da leitura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888228"/>
            <a:ext cx="11640312" cy="571500"/>
          </a:xfrm>
          <a:prstGeom prst="roundRect">
            <a:avLst>
              <a:gd name="adj" fmla="val 5000"/>
            </a:avLst>
          </a:prstGeom>
          <a:solidFill>
            <a:srgbClr val="E0F5FF"/>
          </a:solidFill>
          <a:ln w="15240">
            <a:solidFill>
              <a:srgbClr val="14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9644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Divisão não suportada pelo XST → subtrações  ·  4 casas × 10 if-else = dependência serial = 24 camadas = 27,7 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1930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27,7 ns &gt; 25 ns = 16 timing errors  ·  TIG no UCF: ISE ignora esse caminho  ·  Seguro: executa 1× por pressão de botão, valor já estabilizou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Fluxo de Síntese ISE 14.7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Do código VHDL ao bitstream pronto para gravar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11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43000"/>
            <a:ext cx="914400" cy="438912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1615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XST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143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</a:rPr>
              <a:t>Síntese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1371600"/>
            <a:ext cx="539496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9344" y="1389888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.ngc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184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VHDL → portas lógicas (AND, OR, FF)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58191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07010"/>
                </a:solidFill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167128"/>
            <a:ext cx="914400" cy="438912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4028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NGDBuild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1671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</a:rPr>
              <a:t>Tradução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2395728"/>
            <a:ext cx="539496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9344" y="2414016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.ngd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6426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Aplica UCF — associa sinais a pinos físicos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60604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07010"/>
                </a:solidFill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91256"/>
            <a:ext cx="914400" cy="438912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6440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1912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</a:rPr>
              <a:t>Mapeamento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3419856"/>
            <a:ext cx="539496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9344" y="3438144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.ncd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6667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Mapeia portas para LUTs e FFs do XC3S200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63016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07010"/>
                </a:solidFill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15384"/>
            <a:ext cx="914400" cy="438912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8853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153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</a:rPr>
              <a:t>Place &amp; Route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4443984"/>
            <a:ext cx="539496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9344" y="4462272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.ncd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908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Posiciona cada célula e roteia os fios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65429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07010"/>
                </a:solidFill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39512"/>
            <a:ext cx="914400" cy="438912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126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BitGen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239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</a:rPr>
              <a:t>Geração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54480" y="5468112"/>
            <a:ext cx="539496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9344" y="5486400"/>
            <a:ext cx="466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.bit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715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Produz o bitstream binário (128 KB)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852160"/>
            <a:ext cx="4617720" cy="603504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" y="590702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D8"/>
                </a:solidFill>
              </a:rPr>
              <a:t>Timing summary: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" y="6163056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D8"/>
                </a:solidFill>
              </a:rPr>
              <a:t>  Timing errors: 0  Score: 0  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114300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Resultado da síntese: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1435608"/>
            <a:ext cx="13716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51" name="TextBox 50"/>
          <p:cNvSpPr txBox="1"/>
          <p:nvPr/>
        </p:nvSpPr>
        <p:spPr>
          <a:xfrm>
            <a:off x="5742432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Recurso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1435608"/>
            <a:ext cx="82296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53" name="TextBox 52"/>
          <p:cNvSpPr txBox="1"/>
          <p:nvPr/>
        </p:nvSpPr>
        <p:spPr>
          <a:xfrm>
            <a:off x="7114032" y="15087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Usado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1435608"/>
            <a:ext cx="82296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55" name="TextBox 54"/>
          <p:cNvSpPr txBox="1"/>
          <p:nvPr/>
        </p:nvSpPr>
        <p:spPr>
          <a:xfrm>
            <a:off x="7936992" y="15087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Disp.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0" y="1435608"/>
            <a:ext cx="82296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57" name="TextBox 56"/>
          <p:cNvSpPr txBox="1"/>
          <p:nvPr/>
        </p:nvSpPr>
        <p:spPr>
          <a:xfrm>
            <a:off x="8759952" y="15087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1783080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42432" y="18288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Slices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0880" y="1783080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14032" y="18288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344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1783080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36992" y="18288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1.920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1783080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59952" y="18288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17,9%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67128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42432" y="22128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LUTs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880" y="216712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14032" y="221284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619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863840" y="216712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36992" y="221284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3.840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0" y="2167128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59952" y="221284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16,1%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0" y="2551176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42432" y="259689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Flip-Flops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40880" y="2551176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14032" y="25968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863840" y="2551176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36992" y="25968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3.840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0" y="2551176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59952" y="25968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3,1%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0" y="2935224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42432" y="29809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IOBs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40880" y="293522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14032" y="29809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63840" y="293522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36992" y="29809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97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686800" y="2935224"/>
            <a:ext cx="8229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759952" y="29809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14,4%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0" y="3319272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42432" y="33649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Erros timing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40880" y="3319272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14032" y="33649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63840" y="3319272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36992" y="33649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86800" y="3319272"/>
            <a:ext cx="82296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59952" y="33649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0" y="370332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6B"/>
                </a:solidFill>
              </a:rPr>
              <a:t>Arquivos de entrada: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669280" y="4023360"/>
            <a:ext cx="139446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724144" y="4041648"/>
            <a:ext cx="13213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reflex_game.vhd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8080" y="4069080"/>
            <a:ext cx="4325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Código VHDL — lógica do jogo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69280" y="4462272"/>
            <a:ext cx="139446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724144" y="4480560"/>
            <a:ext cx="13213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reflex_game.ucf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98080" y="4507992"/>
            <a:ext cx="4325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Constraints de pinos e timing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669280" y="4901184"/>
            <a:ext cx="139446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24144" y="4919472"/>
            <a:ext cx="13213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reflex_game.xst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98080" y="4946904"/>
            <a:ext cx="4325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Opções do XST (device alvo)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669280" y="5340096"/>
            <a:ext cx="139446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724144" y="5358384"/>
            <a:ext cx="13213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reflex_game.prj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98080" y="5385816"/>
            <a:ext cx="4325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</a:rPr>
              <a:t>Lista de arquivos VHDL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74320" y="5888228"/>
            <a:ext cx="11640312" cy="571500"/>
          </a:xfrm>
          <a:prstGeom prst="roundRect">
            <a:avLst>
              <a:gd name="adj" fmla="val 5000"/>
            </a:avLst>
          </a:prstGeom>
          <a:solidFill>
            <a:srgbClr val="E0F5FF"/>
          </a:solidFill>
          <a:ln w="15240">
            <a:solidFill>
              <a:srgbClr val="14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1480" y="59644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XST: VHDL→portas lógicas  ·  NGDBuild: aplica UCF (btn=P56, clk=P53...)  ·  MAP: portas→LUTs e flip-flops reais do chip  ·  PAR: posiciona+roteia+mede timing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1480" y="61930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BitGen: gera .bit de 128 KB  ·  344 slices, 17,9%  ·  0 timing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Gravação do 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SRAM (temporário) vs Platform Flash XCF01S (permanente)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12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55A0"/>
                </a:solidFill>
              </a:rPr>
              <a:t>Gravação na SRAM — temporário (perde ao desligar)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35608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4904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# Via xc3sprog: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74650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xc3sprog -c ftdi reflex_game.bit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002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2585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# Via OpenOCD: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5146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openocd -f gravar.cfg -c "init; pld load 0 reflex_game.bit; exit"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755A0"/>
                </a:solidFill>
              </a:rPr>
              <a:t>⚡  Resultado em ~3 segundos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91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Gravação na Flash — permanente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1645920" cy="384048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promgen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Converte .bit → .mcs
(formato Platform Flash XCF01S)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749040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611880"/>
            <a:ext cx="1645920" cy="384048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36576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050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Gera arquivo .svf
(apagar + programar + verificar)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49040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3611880"/>
            <a:ext cx="1645920" cy="384048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6576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3. OpenOCD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050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Executa o .svf na placa
(~2 min · vetor JTAG a vetor)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17720"/>
            <a:ext cx="5486400" cy="603504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67258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D8"/>
                </a:solidFill>
              </a:rPr>
              <a:t># Via xc3sprog (forma mais simples):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49286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8F0D8"/>
                </a:solidFill>
              </a:rPr>
              <a:t>xc3sprog -c ftdi -p 1 reflex_game.bit:w:0:BIT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143000"/>
            <a:ext cx="5422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Cadeia JTAG da placa: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1463040"/>
            <a:ext cx="2638044" cy="868680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1527048"/>
            <a:ext cx="25740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xc3s200  (FPGA)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1828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0x01414093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7716" y="1801368"/>
            <a:ext cx="137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7010"/>
                </a:solidFill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49156" y="1463040"/>
            <a:ext cx="2638044" cy="868680"/>
          </a:xfrm>
          <a:prstGeom prst="roundRect">
            <a:avLst>
              <a:gd name="adj" fmla="val 5000"/>
            </a:avLst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4876" y="1527048"/>
            <a:ext cx="25740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xcf01s  (Flash)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4876" y="1828800"/>
            <a:ext cx="25740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0xd5044093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404872"/>
            <a:ext cx="54223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1A"/>
                </a:solidFill>
              </a:rPr>
              <a:t>TDI → FPGA(pos1) → Flash(pos2) → TDO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2743200"/>
            <a:ext cx="5422392" cy="2103120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 w="19050">
            <a:solidFill>
              <a:srgbClr val="1E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2807208"/>
            <a:ext cx="5239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Após gravar na Flash: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136392"/>
            <a:ext cx="514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Desligar USB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3483864"/>
            <a:ext cx="514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Desligar a placa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3831336"/>
            <a:ext cx="514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Religar a placa (sem PC, sem cabo)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178808"/>
            <a:ext cx="514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XCF01S carrega bitstream automaticamente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526280"/>
            <a:ext cx="514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D6 acende: jogo pronto! 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5888228"/>
            <a:ext cx="11640312" cy="571500"/>
          </a:xfrm>
          <a:prstGeom prst="roundRect">
            <a:avLst>
              <a:gd name="adj" fmla="val 5000"/>
            </a:avLst>
          </a:prstGeom>
          <a:solidFill>
            <a:srgbClr val="E0F5FF"/>
          </a:solidFill>
          <a:ln w="15240">
            <a:solidFill>
              <a:srgbClr val="14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9644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SRAM: volátil, 3 s, perde ao desligar → bom pra testar rápido  ·  Flash XCF01S: permanente, chip separado, auto-carrega ao ligar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61930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xc3sprog: 1 linha de comando  ·  iMPACT+OpenOCD: promgen (.mcs) → iMPACT (.svf) → OpenOCD executa na placa (~2 min)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Problemas Encontrados e Soluções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56 problemas catalogados — os mais críticos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13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43000"/>
            <a:ext cx="3666744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016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143000"/>
            <a:ext cx="3666744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P40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188720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FIFO 245, não UART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554480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</a:rPr>
              <a:t>Problema: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76479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Zero bytes chegavam em qualquer
pino uart_tx testado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0487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7D36"/>
                </a:solidFill>
              </a:rPr>
              <a:t>Solução: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2432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Reescrever VHDL:
8 bits + WR# + TXE#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1143000"/>
            <a:ext cx="3666744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016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6824" y="1143000"/>
            <a:ext cx="3666744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P44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01184" y="1188720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SVF iMPACT com 162 bytes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1554480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</a:rPr>
              <a:t>Problema: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176479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Flash 'gravada' mas firmware
não persistia após power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240487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7D36"/>
                </a:solidFill>
              </a:rPr>
              <a:t>Solução: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8264" y="262432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Checar rc + tamanho
mínimo do SVF (&gt;1 KB)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0728" y="1143000"/>
            <a:ext cx="3666744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016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0728" y="1143000"/>
            <a:ext cx="3666744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P45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1188720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xcf04s → xcf01s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1554480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</a:rPr>
              <a:t>Problema: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176479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IDCODE 0xd5044093 não
bate com xcf04s esperado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240487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7D36"/>
                </a:solidFill>
              </a:rPr>
              <a:t>Solução: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2168" y="262432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Cruzar com BSDL do ISE:
confirma xcf01s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474720"/>
            <a:ext cx="3666744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016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3474720"/>
            <a:ext cx="3666744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P46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520440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Cadeia JTAG invertida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3886200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</a:rPr>
              <a:t>Problema: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09651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TDO sempre zero — FPGA
e Flash trocados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73659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7D36"/>
                </a:solidFill>
              </a:rPr>
              <a:t>Solução: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95604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Flash=pos1 (TDO)
FPGA=pos2 (TDI)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06824" y="3474720"/>
            <a:ext cx="3666744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016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06824" y="3474720"/>
            <a:ext cx="3666744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8264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P42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1184" y="3520440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P29=GND, P34=VCCO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8264" y="3886200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</a:rPr>
              <a:t>Problema: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8264" y="409651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PAR rejeitou pinos ao
tentar usar como I/O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473659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7D36"/>
                </a:solidFill>
              </a:rPr>
              <a:t>Solução: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98264" y="495604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Usar P27 e P36
(PAD report do ISE)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0728" y="3474720"/>
            <a:ext cx="3666744" cy="21945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0160">
            <a:solidFill>
              <a:srgbClr val="275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10728" y="3474720"/>
            <a:ext cx="3666744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2168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7010"/>
                </a:solidFill>
              </a:rPr>
              <a:t>P43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088" y="3520440"/>
            <a:ext cx="3026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Timing violation BCD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8" y="3886200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</a:rPr>
              <a:t>Problema: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409651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27,7 ns &gt; 25 ns no caminho
reaction_time_ms→uart_msg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8" y="4736592"/>
            <a:ext cx="3529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E7D36"/>
                </a:solidFill>
              </a:rPr>
              <a:t>Solução: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2168" y="495604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TIG no UCF para
esse path específico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2179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3A6B"/>
                </a:solidFill>
              </a:rPr>
              <a:t>💡  Lição principal: leia o esquemático e o datasheet ANTES de escrever UCF e VHDL.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Testes e Evidências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Validação do sistema em bancada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14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4300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Testes realizados: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63040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4904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Detecção JTAG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176479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xc3s200=0x01414093 · xcf01s=0xd5044093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29968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0574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0 erros de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233172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PAR: Timing errors: 0  Score: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96896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6243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Gravação na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89864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pld load → rc=0 · D6 acendeu imediatamente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63824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1912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Flash permanente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46557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Power cycle sem USB → D6 acendeu automaticamente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30752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7581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Jogo IDLE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32504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D6 aceso ao ligar a placa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97680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43251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Sinal aleatório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" y="4599432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D5 acendeu após intervalo variável (5 partidas)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864608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48920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EARLY (cedo demais)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16636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Pressionar antes de D5 → D7 acendeu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431536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545896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7D36"/>
                </a:solidFill>
              </a:rPr>
              <a:t>✅  TIMEOUT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573328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Não reagir por ~10 s → D7 acendeu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998464"/>
            <a:ext cx="5806440" cy="512064"/>
          </a:xfrm>
          <a:prstGeom prst="roundRect">
            <a:avLst>
              <a:gd name="adj" fmla="val 5000"/>
            </a:avLst>
          </a:prstGeom>
          <a:solidFill>
            <a:srgbClr val="FFF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602589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07010"/>
                </a:solidFill>
              </a:rPr>
              <a:t>⏳  Dados FIFO ttyUSB1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6300216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Porta aparece no sistema · teste de bytes pendente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1143000"/>
            <a:ext cx="5148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Saída real do OpenOCD: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1435608"/>
            <a:ext cx="5148072" cy="2139696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76288" y="1490472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$ openocd -f gravar.cfg 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1746504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Info : JTAG tap: xc3s200 tap/device found: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288" y="2002536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       0x01414093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2258568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Info : JTAG tap: platform_flash tap/device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2514600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       found: 0xd5044093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2770632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Info : pld load 0 'reflex_game.bit'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3026664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return code: 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3282696"/>
            <a:ext cx="4965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F0D8"/>
                </a:solidFill>
              </a:rPr>
              <a:t>$ # D6 acendeu — jogo pronto!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888228"/>
            <a:ext cx="11640312" cy="571500"/>
          </a:xfrm>
          <a:prstGeom prst="roundRect">
            <a:avLst>
              <a:gd name="adj" fmla="val 5000"/>
            </a:avLst>
          </a:prstGeom>
          <a:solidFill>
            <a:srgbClr val="E0F5FF"/>
          </a:solidFill>
          <a:ln w="15240">
            <a:solidFill>
              <a:srgbClr val="146A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9644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Tudo na placa física, sem simulação  ·  LEDs: IDLE D6 ✅ · D5 aleatório ✅ · EARLY D7 ✅ · TIMEOUT D7 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193028"/>
            <a:ext cx="11365992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</a:rPr>
              <a:t>▸  Flash permanente: desligou, desconectou, religou → D6 acendeu sozinho ✅  ·  Pendente: bytes USB (firmware gravado, não confirmamos chegada)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17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Conclusão e Aprendizados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8EE"/>
                </a:solidFill>
              </a:rPr>
              <a:t>Resultado final · O que levamos desta experiência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143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1478"/>
            <a:ext cx="12188952" cy="19050"/>
          </a:xfrm>
          <a:prstGeom prst="rect">
            <a:avLst/>
          </a:prstGeom>
          <a:solidFill>
            <a:srgbClr val="E07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3A6B"/>
                </a:solidFill>
              </a:rPr>
              <a:t>Expande Tech  ·  Linguagem de Descrição de Hardware  ·  Junho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1A3A6B"/>
                </a:solidFill>
              </a:rPr>
              <a:t>15 / 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430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E8FFD8"/>
          </a:solidFill>
          <a:ln w="25400">
            <a:solidFill>
              <a:srgbClr val="1E7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2161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7D36"/>
                </a:solidFill>
              </a:rPr>
              <a:t>✅  Resultado final: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581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Jogo funcional gravado permanentemente na Flash XCF01S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9110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Carrega sem PC · 3 LEDs · botão · USB FIFO · resolução 1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240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·  344 slices (17,9%) · 0 erros de timing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Sobre VHDL: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VHDL descreve hardware paralelo — dois processos rodam ao mesmo tempo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FSMs são a estrutura central do design digital síncrono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UCF é tão crítico quanto o VHDL — pino errado = sem saída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9768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TIG permite síntese limpa quando um caminho é logicamente seguro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Sobre processo: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480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Ler datasheet + esquemático ANTES de codificar economiza horas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4126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Verificar IDCODE dos chips JTAG antes de gerar SVF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344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▸  Validar tamanho do SVF evita falso-positivo de gravação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143000"/>
            <a:ext cx="5330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Ferramentas utilizadas: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463040"/>
            <a:ext cx="1371600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28" name="TextBox 27"/>
          <p:cNvSpPr txBox="1"/>
          <p:nvPr/>
        </p:nvSpPr>
        <p:spPr>
          <a:xfrm>
            <a:off x="6656832" y="15361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Ferramenta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1463040"/>
            <a:ext cx="3913632" cy="34747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8028432" y="1536192"/>
            <a:ext cx="3822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Uso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1810512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18562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ISE 14.7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1810512"/>
            <a:ext cx="3913632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2" y="1856232"/>
            <a:ext cx="3822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XST · NGDBuild · MAP · PAR · BitGen · iMPACT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194560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22402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OpenOCD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80" y="2194560"/>
            <a:ext cx="39136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2" y="2240280"/>
            <a:ext cx="3822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Gravação JTAG (pld load e svf)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2578608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6832" y="26243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xc3sprog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2578608"/>
            <a:ext cx="3913632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28432" y="2624328"/>
            <a:ext cx="3822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Alternativa simples para JTAG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2962656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300837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promgen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2962656"/>
            <a:ext cx="39136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8432" y="3008376"/>
            <a:ext cx="3822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Conversão .bit → .mcs (formato Flash)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0" y="3346704"/>
            <a:ext cx="137160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56832" y="339242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Python/tkinter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80" y="3346704"/>
            <a:ext cx="3913632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28432" y="3392424"/>
            <a:ext cx="3822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</a:rPr>
              <a:t>Painel de controle com monitor serial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3886200"/>
            <a:ext cx="5330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</a:rPr>
              <a:t>Referências: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4233672"/>
            <a:ext cx="61722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8544" y="4251960"/>
            <a:ext cx="5440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DS099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279392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Spartan-3 FPGA Data Sheet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0" y="4645152"/>
            <a:ext cx="61722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38544" y="4663440"/>
            <a:ext cx="5440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UG331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4690872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Spartan-3 FPGA User Guide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0" y="5056632"/>
            <a:ext cx="1083564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8544" y="5074920"/>
            <a:ext cx="10104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BSDL xcf01s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5102352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Identificação correta da Flash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0" y="5468112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27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38544" y="5486400"/>
            <a:ext cx="9326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PAD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5513832"/>
            <a:ext cx="3639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1A"/>
                </a:solidFill>
              </a:rPr>
              <a:t>Validação dos pinos do package TQ144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5943600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5800" y="59618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Obrigado!  ·  Expande Tech  ·  Junho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